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guide Ms. Divya Jaiswal ma'am, faculty members, and external examiners. We, Amit Kumar Sahu (Roll No: 2526002003) and Raag Patel (Roll No: 2526002048), from the Department of Computer Applications, Shri Shankaracharya Professional University, Bhilai, present our Minor Project titled 'Online Booking Transport Platform' - Ghidora Transport.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outline of our presentation, structured exactly as required: Section 1 covers Introduction, Purpose, Problem Solving Statement, and Objectives. Section 2 covers the Hardware and Software Requirements as per our synopsis. Section 3 covers Form Design, Database Design, ER-Diagram, and DFD Diagrams. Section 4 details our Project Methodology, Phased Lifecycle, Testing, Future Scope, and Conclusion.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stated in our synopsis, Ghidora Transport is an online transport booking platform built with Python and Django. Its primary purpose is to eliminate traditional manual phone-call bookings by offering an automated web application. Users can easily enter pickup and drop details, choose a vehicle, get instant fare calculation, and submit bookings from both computers and mobile phones.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Problem Solving Statement directly tackles the traditional booking bottleneck. In traditional systems, customers have to call or visit physical offices, ask about fares repeatedly, and records are maintained on paper slips. Ghidora Transport provides an end-to-end digital solution: customers select vehicles online, calculate fares instantly, and all records are saved securely in our database.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core objectives of our project as documented in our synopsis. Our primary goals include: providing an online booking facility, making booking simple and easy, allowing customers to select transport vehicles, computing fares automatically, storing records in the database, and ensuring full mobile responsiveness to save time for both customers and transporters.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Section 2, we present the exact Hardware and Software specifications from our approved synopsis. On the hardware side: an Intel Core i3 or equivalent processor, 8 GB of RAM, 20 GB free storage, and Windows 10/11. On the software side: Python for backend, Django as web framework, HTML5/CSS3/JS for frontend, SQLite for database storage, VS Code for development, Chrome for testing, Git/GitHub for version control, and Render for live cloud deployment.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Section 3: System Design, we begin with Form Design. As highlighted in our synopsis, users interact with the system via clean online forms: The primary Booking Form collects customer name, phone, pickup, drop, booking date, and vehicle type; The Pickupwala form handles cargo dispatch; The Quotation form builds instant PDF estimates; and the Expense form allows logging diesel and toll bills with photo proof. All forms are built with Django Form validation and CSRF token security.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SQLite database schema. As stated in our synopsis, SQLite is used to store all booking and customer information. The tbl_Booking table holds the customer credentials, pickup and drop addresses, booking date, vehicle type, and calculated fare. The tbl_Vehicle table tracks vehicle fleet details and availability. The tbl_Expense table records auditable fuel and toll expenses, and the tbl_Quotation table handles bulk inquiries. Foreign key relationships enforce referential data integrity.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displays our Entity-Relationship Diagram. A CUSTOMER places one or more BOOKINGS (1 to N relationship). Each BOOKING is assigned to a specific transport VEHICLE (N to 1). Each VEHICLE is operated by a DRIVER (1 to 1). Each VEHICLE incurs operational EXPENSES such as fuel and tolls (1 to N). Customers can also generate multiple commercial QUOTATIONS (1 to N). Primary Keys and Foreign Keys maintain complete relational consistency.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presents the Level 0 Data Flow Diagram (Context Diagram). The central bubble represents Process 0.0 Ghidora Transport System. Customers provide booking details and receive calculated fares and booking IDs. Drivers receive trip assignments and send status updates. Admins manage vehicle rates and view overall booking and financial reports.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11, the Level 1 DFD decomposes the system into five sub-processes: Process 1.0 validates user booking input; Process 2.0 calculates the fare; Process 3.0 confirms booking and writes to D2 Booking Store; Process 4.0 audits expenses and toll receipts to D4 Expense Store; and Process 5.0 generates PDF quotations. All data stores map directly to SQLite relational tables.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Section 4: Methodology, we adopted the Agile Iterative SDLC model. Agile allowed our 2-member team to work in iterative sprints: Sprint 1 set up Django and SQLite database models; Sprint 2 built the booking form and fare calculation engine; Sprint 3 implemented driver management and expense auditing; and Sprint 4 handled testing, UI refinement, and Render cloud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outlines our 5-phase software development lifecycle: Phase 1: Synopsis preparation and requirement gathering; Phase 2: Database normalization and ER/DFD architectural design; Phase 3: Python and Django coding with responsive HTML/CSS/JS frontend; Phase 4: Unit testing, form validation, and mobile testing; and Phase 5: Production cloud deployment on Render.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Testing was an integral part of our project methodology. We performed Unit Testing on Django models; verified Form Validation to block empty or invalid phone numbers; checked Fare Calculation accuracy; validated CSRF security; and conducted extensive cross-device mobile testing.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highlights the Future Scope directly from our synopsis. Future enhancements include: Automatic Google Maps distance calculation; Online UPI payments; automated WhatsApp notifications; Live GPS tracking on map; Customer login and booking history; Live booking status updates (Pending, Confirmed, In-Transit); Dedicated Android/iOS mobile apps; and an AI Chatbot assistant for 24/7 customer queries.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as summarized in our synopsis, Ghidora Transport provides an easy, reliable, and convenient digital solution for local transport booking. It successfully reduces manual phone booking dependency, automates fare calculation, stores records securely in SQLite, and provides a solid foundation for future enhancements.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express our sincere gratitude to our respected guide Ms. Divya Jaiswal ma'am, faculty members, and examiners for their guidance and support. We are now open to any questions or suggestions.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777240"/>
            <a:ext cx="10728655" cy="2286000"/>
          </a:xfrm>
          <a:prstGeom prst="rect">
            <a:avLst/>
          </a:prstGeom>
          <a:noFill/>
        </p:spPr>
        <p:txBody>
          <a:bodyPr wrap="square">
            <a:spAutoFit/>
          </a:bodyPr>
          <a:lstStyle/>
          <a:p>
            <a:pPr>
              <a:defRPr sz="1350" b="1">
                <a:solidFill>
                  <a:srgbClr val="D97706"/>
                </a:solidFill>
              </a:defRPr>
            </a:pPr>
            <a:r>
              <a:t>SHRI SHANKARACHARYA PROFESSIONAL UNIVERSITY, BHILAI</a:t>
            </a:r>
          </a:p>
          <a:p>
            <a:pPr>
              <a:spcBef>
                <a:spcPts val="400"/>
              </a:spcBef>
              <a:defRPr sz="1500" b="1">
                <a:solidFill>
                  <a:srgbClr val="BFDBFE"/>
                </a:solidFill>
              </a:defRPr>
            </a:pPr>
            <a:r>
              <a:t>MINOR PROJECT PRESENTATION</a:t>
            </a:r>
          </a:p>
          <a:p>
            <a:pPr>
              <a:spcBef>
                <a:spcPts val="600"/>
              </a:spcBef>
              <a:defRPr sz="4400" b="1">
                <a:solidFill>
                  <a:srgbClr val="FFFFFF"/>
                </a:solidFill>
              </a:defRPr>
            </a:pPr>
            <a:r>
              <a:t>GHIDORA TRANSPORT</a:t>
            </a:r>
          </a:p>
          <a:p>
            <a:pPr>
              <a:spcBef>
                <a:spcPts val="400"/>
              </a:spcBef>
              <a:defRPr sz="1800">
                <a:solidFill>
                  <a:srgbClr val="E2E8F0"/>
                </a:solidFill>
              </a:defRPr>
            </a:pPr>
            <a:r>
              <a:t>Project Title: Online Booking Transport Platform</a:t>
            </a:r>
          </a:p>
        </p:txBody>
      </p:sp>
      <p:sp>
        <p:nvSpPr>
          <p:cNvPr id="5" name="Rounded Rectangle 4"/>
          <p:cNvSpPr/>
          <p:nvPr/>
        </p:nvSpPr>
        <p:spPr>
          <a:xfrm>
            <a:off x="731520" y="3383280"/>
            <a:ext cx="3328416" cy="27432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520440"/>
            <a:ext cx="2962656" cy="2468880"/>
          </a:xfrm>
          <a:prstGeom prst="rect">
            <a:avLst/>
          </a:prstGeom>
          <a:noFill/>
        </p:spPr>
        <p:txBody>
          <a:bodyPr wrap="square">
            <a:spAutoFit/>
          </a:bodyPr>
          <a:lstStyle/>
          <a:p>
            <a:pPr>
              <a:defRPr sz="1100" b="1">
                <a:solidFill>
                  <a:srgbClr val="D97706"/>
                </a:solidFill>
              </a:defRPr>
            </a:pPr>
            <a:r>
              <a:t>SUBMITTED BY:</a:t>
            </a:r>
          </a:p>
          <a:p>
            <a:pPr>
              <a:spcBef>
                <a:spcPts val="600"/>
              </a:spcBef>
              <a:defRPr sz="1600" b="1">
                <a:solidFill>
                  <a:srgbClr val="FFFFFF"/>
                </a:solidFill>
              </a:defRPr>
            </a:pPr>
            <a:r>
              <a:t>AMIT KUMAR SAHU</a:t>
            </a:r>
          </a:p>
          <a:p>
            <a:pPr>
              <a:defRPr sz="1150">
                <a:solidFill>
                  <a:srgbClr val="CBD5E1"/>
                </a:solidFill>
              </a:defRPr>
            </a:pPr>
            <a:r>
              <a:t>Roll Number: 2526002003</a:t>
            </a:r>
          </a:p>
          <a:p>
            <a:pPr>
              <a:spcBef>
                <a:spcPts val="800"/>
              </a:spcBef>
              <a:defRPr sz="1600" b="1">
                <a:solidFill>
                  <a:srgbClr val="FFFFFF"/>
                </a:solidFill>
              </a:defRPr>
            </a:pPr>
            <a:r>
              <a:t>RAAG PATEL</a:t>
            </a:r>
          </a:p>
          <a:p>
            <a:pPr>
              <a:defRPr sz="1150">
                <a:solidFill>
                  <a:srgbClr val="CBD5E1"/>
                </a:solidFill>
              </a:defRPr>
            </a:pPr>
            <a:r>
              <a:t>Roll Number: 2526002048</a:t>
            </a:r>
          </a:p>
        </p:txBody>
      </p:sp>
      <p:sp>
        <p:nvSpPr>
          <p:cNvPr id="7" name="Rounded Rectangle 6"/>
          <p:cNvSpPr/>
          <p:nvPr/>
        </p:nvSpPr>
        <p:spPr>
          <a:xfrm>
            <a:off x="4425696" y="3383280"/>
            <a:ext cx="3328416" cy="27432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08576" y="3520440"/>
            <a:ext cx="2962656" cy="2468880"/>
          </a:xfrm>
          <a:prstGeom prst="rect">
            <a:avLst/>
          </a:prstGeom>
          <a:noFill/>
        </p:spPr>
        <p:txBody>
          <a:bodyPr wrap="square">
            <a:spAutoFit/>
          </a:bodyPr>
          <a:lstStyle/>
          <a:p>
            <a:pPr>
              <a:defRPr sz="1100" b="1">
                <a:solidFill>
                  <a:srgbClr val="D97706"/>
                </a:solidFill>
              </a:defRPr>
            </a:pPr>
            <a:r>
              <a:t>UNDER THE GUIDANCE OF:</a:t>
            </a:r>
          </a:p>
          <a:p>
            <a:pPr>
              <a:spcBef>
                <a:spcPts val="600"/>
              </a:spcBef>
              <a:defRPr sz="1700" b="1">
                <a:solidFill>
                  <a:srgbClr val="FFFFFF"/>
                </a:solidFill>
              </a:defRPr>
            </a:pPr>
            <a:r>
              <a:t>MS. DIVYA JAISWAL</a:t>
            </a:r>
          </a:p>
          <a:p>
            <a:pPr>
              <a:spcBef>
                <a:spcPts val="800"/>
              </a:spcBef>
              <a:defRPr sz="1200">
                <a:solidFill>
                  <a:srgbClr val="CBD5E1"/>
                </a:solidFill>
              </a:defRPr>
            </a:pPr>
            <a:r>
              <a:t>Assistant Professor / Faculty</a:t>
            </a:r>
            <a:br/>
            <a:r>
              <a:t>Department of Computer Applications</a:t>
            </a:r>
            <a:br/>
            <a:r>
              <a:t>Shri Shankaracharya Professional University (SSPU)</a:t>
            </a:r>
          </a:p>
        </p:txBody>
      </p:sp>
      <p:sp>
        <p:nvSpPr>
          <p:cNvPr id="9" name="Rounded Rectangle 8"/>
          <p:cNvSpPr/>
          <p:nvPr/>
        </p:nvSpPr>
        <p:spPr>
          <a:xfrm>
            <a:off x="8119872" y="3383280"/>
            <a:ext cx="3328416" cy="27432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02752" y="3520440"/>
            <a:ext cx="2962656" cy="2468880"/>
          </a:xfrm>
          <a:prstGeom prst="rect">
            <a:avLst/>
          </a:prstGeom>
          <a:noFill/>
        </p:spPr>
        <p:txBody>
          <a:bodyPr wrap="square">
            <a:spAutoFit/>
          </a:bodyPr>
          <a:lstStyle/>
          <a:p>
            <a:pPr>
              <a:defRPr sz="1100" b="1">
                <a:solidFill>
                  <a:srgbClr val="D97706"/>
                </a:solidFill>
              </a:defRPr>
            </a:pPr>
            <a:r>
              <a:t>INSTITUTION:</a:t>
            </a:r>
          </a:p>
          <a:p>
            <a:pPr>
              <a:spcBef>
                <a:spcPts val="600"/>
              </a:spcBef>
              <a:defRPr sz="1550" b="1">
                <a:solidFill>
                  <a:srgbClr val="FFFFFF"/>
                </a:solidFill>
              </a:defRPr>
            </a:pPr>
            <a:r>
              <a:t>Shri Shankaracharya Professional University</a:t>
            </a:r>
          </a:p>
          <a:p>
            <a:pPr>
              <a:spcBef>
                <a:spcPts val="800"/>
              </a:spcBef>
              <a:defRPr sz="1200">
                <a:solidFill>
                  <a:srgbClr val="CBD5E1"/>
                </a:solidFill>
              </a:defRPr>
            </a:pPr>
            <a:r>
              <a:t>Bhilai (C.G.), India</a:t>
            </a:r>
            <a:br/>
            <a:r>
              <a:t>Department of Computer Applications</a:t>
            </a:r>
            <a:br/>
            <a:r>
              <a:t>Academic Session: 2025 - 2026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102412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8229600" cy="274320"/>
          </a:xfrm>
          <a:prstGeom prst="rect">
            <a:avLst/>
          </a:prstGeom>
          <a:noFill/>
        </p:spPr>
        <p:txBody>
          <a:bodyPr wrap="square">
            <a:spAutoFit/>
          </a:bodyPr>
          <a:lstStyle/>
          <a:p>
            <a:pPr>
              <a:defRPr sz="1000" b="1">
                <a:solidFill>
                  <a:srgbClr val="D97706"/>
                </a:solidFill>
              </a:defRPr>
            </a:pPr>
            <a:r>
              <a:t>GHIDORA TRANSPORT | MINOR PROJECT PRESENTATION</a:t>
            </a:r>
          </a:p>
        </p:txBody>
      </p:sp>
      <p:sp>
        <p:nvSpPr>
          <p:cNvPr id="6" name="TextBox 5"/>
          <p:cNvSpPr txBox="1"/>
          <p:nvPr/>
        </p:nvSpPr>
        <p:spPr>
          <a:xfrm>
            <a:off x="731520" y="438912"/>
            <a:ext cx="8686800" cy="594360"/>
          </a:xfrm>
          <a:prstGeom prst="rect">
            <a:avLst/>
          </a:prstGeom>
          <a:noFill/>
        </p:spPr>
        <p:txBody>
          <a:bodyPr wrap="square">
            <a:spAutoFit/>
          </a:bodyPr>
          <a:lstStyle/>
          <a:p>
            <a:pPr>
              <a:defRPr sz="2100" b="1">
                <a:solidFill>
                  <a:srgbClr val="FFFFFF"/>
                </a:solidFill>
              </a:defRPr>
            </a:pPr>
            <a:r>
              <a:t>Presentation Outline &amp; Structure</a:t>
            </a:r>
          </a:p>
        </p:txBody>
      </p:sp>
      <p:sp>
        <p:nvSpPr>
          <p:cNvPr id="7" name="TextBox 6"/>
          <p:cNvSpPr txBox="1"/>
          <p:nvPr/>
        </p:nvSpPr>
        <p:spPr>
          <a:xfrm>
            <a:off x="9144000" y="292608"/>
            <a:ext cx="2377440" cy="594360"/>
          </a:xfrm>
          <a:prstGeom prst="rect">
            <a:avLst/>
          </a:prstGeom>
          <a:noFill/>
        </p:spPr>
        <p:txBody>
          <a:bodyPr wrap="none">
            <a:spAutoFit/>
          </a:bodyPr>
          <a:lstStyle/>
          <a:p>
            <a:pPr algn="r">
              <a:defRPr sz="1050" b="1">
                <a:solidFill>
                  <a:srgbClr val="94A3B8"/>
                </a:solidFill>
              </a:defRPr>
            </a:pPr>
            <a:r>
              <a:t>SSPU BHILAI</a:t>
            </a:r>
            <a:br/>
            <a:r>
              <a:t>MCA DEPARTMENT</a:t>
            </a:r>
          </a:p>
        </p:txBody>
      </p:sp>
      <p:sp>
        <p:nvSpPr>
          <p:cNvPr id="8" name="TextBox 7"/>
          <p:cNvSpPr txBox="1"/>
          <p:nvPr/>
        </p:nvSpPr>
        <p:spPr>
          <a:xfrm>
            <a:off x="731520" y="6537960"/>
            <a:ext cx="10728655" cy="274320"/>
          </a:xfrm>
          <a:prstGeom prst="rect">
            <a:avLst/>
          </a:prstGeom>
          <a:noFill/>
        </p:spPr>
        <p:txBody>
          <a:bodyPr wrap="none">
            <a:spAutoFit/>
          </a:bodyPr>
          <a:lstStyle/>
          <a:p>
            <a:pPr>
              <a:defRPr sz="850">
                <a:solidFill>
                  <a:srgbClr val="64748B"/>
                </a:solidFill>
              </a:defRPr>
            </a:pPr>
            <a:r>
              <a:t>Ghidora Transport | Online Booking Transport Platform | Amit Kumar Sahu (2526002003) &amp; Raag Patel (2526002048) | Guide: Ms. Divya Jaiswal</a:t>
            </a:r>
          </a:p>
        </p:txBody>
      </p:sp>
      <p:sp>
        <p:nvSpPr>
          <p:cNvPr id="9" name="Rounded Rectangle 8"/>
          <p:cNvSpPr/>
          <p:nvPr/>
        </p:nvSpPr>
        <p:spPr>
          <a:xfrm>
            <a:off x="731520" y="1463040"/>
            <a:ext cx="24688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463040"/>
            <a:ext cx="2468880" cy="10972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691640"/>
            <a:ext cx="2194560" cy="4206240"/>
          </a:xfrm>
          <a:prstGeom prst="rect">
            <a:avLst/>
          </a:prstGeom>
          <a:noFill/>
        </p:spPr>
        <p:txBody>
          <a:bodyPr wrap="square">
            <a:spAutoFit/>
          </a:bodyPr>
          <a:lstStyle/>
          <a:p>
            <a:pPr>
              <a:defRPr sz="1300" b="1">
                <a:solidFill>
                  <a:srgbClr val="1E3A8A"/>
                </a:solidFill>
              </a:defRPr>
            </a:pPr>
            <a:r>
              <a:t>01. INTRODUCTION</a:t>
            </a:r>
          </a:p>
          <a:p>
            <a:pPr>
              <a:spcBef>
                <a:spcPts val="1200"/>
              </a:spcBef>
              <a:defRPr sz="1150">
                <a:solidFill>
                  <a:srgbClr val="0F172A"/>
                </a:solidFill>
              </a:defRPr>
            </a:pPr>
            <a:r>
              <a:t>• Project Title &amp; Name</a:t>
            </a:r>
          </a:p>
          <a:p>
            <a:pPr>
              <a:spcBef>
                <a:spcPts val="1200"/>
              </a:spcBef>
              <a:defRPr sz="1150">
                <a:solidFill>
                  <a:srgbClr val="0F172A"/>
                </a:solidFill>
              </a:defRPr>
            </a:pPr>
            <a:r>
              <a:t>• Project Overview &amp; Purpose</a:t>
            </a:r>
          </a:p>
          <a:p>
            <a:pPr>
              <a:spcBef>
                <a:spcPts val="1200"/>
              </a:spcBef>
              <a:defRPr sz="1150">
                <a:solidFill>
                  <a:srgbClr val="0F172A"/>
                </a:solidFill>
              </a:defRPr>
            </a:pPr>
            <a:r>
              <a:t>• Problem Solving Statement</a:t>
            </a:r>
          </a:p>
          <a:p>
            <a:pPr>
              <a:spcBef>
                <a:spcPts val="1200"/>
              </a:spcBef>
              <a:defRPr sz="1150">
                <a:solidFill>
                  <a:srgbClr val="0F172A"/>
                </a:solidFill>
              </a:defRPr>
            </a:pPr>
            <a:r>
              <a:t>• Aims &amp; Core Objectives</a:t>
            </a:r>
          </a:p>
        </p:txBody>
      </p:sp>
      <p:sp>
        <p:nvSpPr>
          <p:cNvPr id="12" name="Rounded Rectangle 11"/>
          <p:cNvSpPr/>
          <p:nvPr/>
        </p:nvSpPr>
        <p:spPr>
          <a:xfrm>
            <a:off x="3474720" y="1463040"/>
            <a:ext cx="24688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74720" y="1463040"/>
            <a:ext cx="2468880"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11880" y="1691640"/>
            <a:ext cx="2194560" cy="4206240"/>
          </a:xfrm>
          <a:prstGeom prst="rect">
            <a:avLst/>
          </a:prstGeom>
          <a:noFill/>
        </p:spPr>
        <p:txBody>
          <a:bodyPr wrap="square">
            <a:spAutoFit/>
          </a:bodyPr>
          <a:lstStyle/>
          <a:p>
            <a:pPr>
              <a:defRPr sz="1300" b="1">
                <a:solidFill>
                  <a:srgbClr val="2563EB"/>
                </a:solidFill>
              </a:defRPr>
            </a:pPr>
            <a:r>
              <a:t>02. H/W &amp; S/W REQUIREMENTS</a:t>
            </a:r>
          </a:p>
          <a:p>
            <a:pPr>
              <a:spcBef>
                <a:spcPts val="1200"/>
              </a:spcBef>
              <a:defRPr sz="1150">
                <a:solidFill>
                  <a:srgbClr val="0F172A"/>
                </a:solidFill>
              </a:defRPr>
            </a:pPr>
            <a:r>
              <a:t>• Hardware Component Table</a:t>
            </a:r>
          </a:p>
          <a:p>
            <a:pPr>
              <a:spcBef>
                <a:spcPts val="1200"/>
              </a:spcBef>
              <a:defRPr sz="1150">
                <a:solidFill>
                  <a:srgbClr val="0F172A"/>
                </a:solidFill>
              </a:defRPr>
            </a:pPr>
            <a:r>
              <a:t>• Software &amp; Tech Stack Table</a:t>
            </a:r>
          </a:p>
          <a:p>
            <a:pPr>
              <a:spcBef>
                <a:spcPts val="1200"/>
              </a:spcBef>
              <a:defRPr sz="1150">
                <a:solidFill>
                  <a:srgbClr val="0F172A"/>
                </a:solidFill>
              </a:defRPr>
            </a:pPr>
            <a:r>
              <a:t>• Python, Django &amp; SQLite</a:t>
            </a:r>
          </a:p>
          <a:p>
            <a:pPr>
              <a:spcBef>
                <a:spcPts val="1200"/>
              </a:spcBef>
              <a:defRPr sz="1150">
                <a:solidFill>
                  <a:srgbClr val="0F172A"/>
                </a:solidFill>
              </a:defRPr>
            </a:pPr>
            <a:r>
              <a:t>• Render Cloud Deployment</a:t>
            </a:r>
          </a:p>
        </p:txBody>
      </p:sp>
      <p:sp>
        <p:nvSpPr>
          <p:cNvPr id="15" name="Rounded Rectangle 14"/>
          <p:cNvSpPr/>
          <p:nvPr/>
        </p:nvSpPr>
        <p:spPr>
          <a:xfrm>
            <a:off x="6217920" y="1463040"/>
            <a:ext cx="24688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1463040"/>
            <a:ext cx="2468880" cy="10972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1691640"/>
            <a:ext cx="2194560" cy="4206240"/>
          </a:xfrm>
          <a:prstGeom prst="rect">
            <a:avLst/>
          </a:prstGeom>
          <a:noFill/>
        </p:spPr>
        <p:txBody>
          <a:bodyPr wrap="square">
            <a:spAutoFit/>
          </a:bodyPr>
          <a:lstStyle/>
          <a:p>
            <a:pPr>
              <a:defRPr sz="1300" b="1">
                <a:solidFill>
                  <a:srgbClr val="0F172A"/>
                </a:solidFill>
              </a:defRPr>
            </a:pPr>
            <a:r>
              <a:t>03. SYSTEM DESIGN</a:t>
            </a:r>
          </a:p>
          <a:p>
            <a:pPr>
              <a:spcBef>
                <a:spcPts val="1200"/>
              </a:spcBef>
              <a:defRPr sz="1150">
                <a:solidFill>
                  <a:srgbClr val="0F172A"/>
                </a:solidFill>
              </a:defRPr>
            </a:pPr>
            <a:r>
              <a:t>• Form Design (UI/UX Architecture)</a:t>
            </a:r>
          </a:p>
          <a:p>
            <a:pPr>
              <a:spcBef>
                <a:spcPts val="1200"/>
              </a:spcBef>
              <a:defRPr sz="1150">
                <a:solidFill>
                  <a:srgbClr val="0F172A"/>
                </a:solidFill>
              </a:defRPr>
            </a:pPr>
            <a:r>
              <a:t>• Database Design (Relational Schema)</a:t>
            </a:r>
          </a:p>
          <a:p>
            <a:pPr>
              <a:spcBef>
                <a:spcPts val="1200"/>
              </a:spcBef>
              <a:defRPr sz="1150">
                <a:solidFill>
                  <a:srgbClr val="0F172A"/>
                </a:solidFill>
              </a:defRPr>
            </a:pPr>
            <a:r>
              <a:t>• Entity-Relationship (ER) Diagram</a:t>
            </a:r>
          </a:p>
          <a:p>
            <a:pPr>
              <a:spcBef>
                <a:spcPts val="1200"/>
              </a:spcBef>
              <a:defRPr sz="1150">
                <a:solidFill>
                  <a:srgbClr val="0F172A"/>
                </a:solidFill>
              </a:defRPr>
            </a:pPr>
            <a:r>
              <a:t>• DFD Level 0 &amp; Level 1 Diagrams</a:t>
            </a:r>
          </a:p>
        </p:txBody>
      </p:sp>
      <p:sp>
        <p:nvSpPr>
          <p:cNvPr id="18" name="Rounded Rectangle 17"/>
          <p:cNvSpPr/>
          <p:nvPr/>
        </p:nvSpPr>
        <p:spPr>
          <a:xfrm>
            <a:off x="8961120" y="1463040"/>
            <a:ext cx="24688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961120" y="1463040"/>
            <a:ext cx="2468880" cy="10972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98280" y="1691640"/>
            <a:ext cx="2194560" cy="4206240"/>
          </a:xfrm>
          <a:prstGeom prst="rect">
            <a:avLst/>
          </a:prstGeom>
          <a:noFill/>
        </p:spPr>
        <p:txBody>
          <a:bodyPr wrap="square">
            <a:spAutoFit/>
          </a:bodyPr>
          <a:lstStyle/>
          <a:p>
            <a:pPr>
              <a:defRPr sz="1300" b="1">
                <a:solidFill>
                  <a:srgbClr val="D97706"/>
                </a:solidFill>
              </a:defRPr>
            </a:pPr>
            <a:r>
              <a:t>04. PROJECT METHODOLOGY</a:t>
            </a:r>
          </a:p>
          <a:p>
            <a:pPr>
              <a:spcBef>
                <a:spcPts val="1200"/>
              </a:spcBef>
              <a:defRPr sz="1150">
                <a:solidFill>
                  <a:srgbClr val="0F172A"/>
                </a:solidFill>
              </a:defRPr>
            </a:pPr>
            <a:r>
              <a:t>• Agile Development Methodology</a:t>
            </a:r>
          </a:p>
          <a:p>
            <a:pPr>
              <a:spcBef>
                <a:spcPts val="1200"/>
              </a:spcBef>
              <a:defRPr sz="1150">
                <a:solidFill>
                  <a:srgbClr val="0F172A"/>
                </a:solidFill>
              </a:defRPr>
            </a:pPr>
            <a:r>
              <a:t>• 5-Phase Execution Lifecycle</a:t>
            </a:r>
          </a:p>
          <a:p>
            <a:pPr>
              <a:spcBef>
                <a:spcPts val="1200"/>
              </a:spcBef>
              <a:defRPr sz="1150">
                <a:solidFill>
                  <a:srgbClr val="0F172A"/>
                </a:solidFill>
              </a:defRPr>
            </a:pPr>
            <a:r>
              <a:t>• Testing &amp; Quality Assurance</a:t>
            </a:r>
          </a:p>
          <a:p>
            <a:pPr>
              <a:spcBef>
                <a:spcPts val="1200"/>
              </a:spcBef>
              <a:defRPr sz="1150">
                <a:solidFill>
                  <a:srgbClr val="0F172A"/>
                </a:solidFill>
              </a:defRPr>
            </a:pPr>
            <a:r>
              <a:t>• Future Scope &amp; Conclusion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102412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8229600" cy="274320"/>
          </a:xfrm>
          <a:prstGeom prst="rect">
            <a:avLst/>
          </a:prstGeom>
          <a:noFill/>
        </p:spPr>
        <p:txBody>
          <a:bodyPr wrap="square">
            <a:spAutoFit/>
          </a:bodyPr>
          <a:lstStyle/>
          <a:p>
            <a:pPr>
              <a:defRPr sz="1000" b="1">
                <a:solidFill>
                  <a:srgbClr val="D97706"/>
                </a:solidFill>
              </a:defRPr>
            </a:pPr>
            <a:r>
              <a:t>SECTION 1: INTRODUCTION</a:t>
            </a:r>
          </a:p>
        </p:txBody>
      </p:sp>
      <p:sp>
        <p:nvSpPr>
          <p:cNvPr id="6" name="TextBox 5"/>
          <p:cNvSpPr txBox="1"/>
          <p:nvPr/>
        </p:nvSpPr>
        <p:spPr>
          <a:xfrm>
            <a:off x="731520" y="438912"/>
            <a:ext cx="8686800" cy="594360"/>
          </a:xfrm>
          <a:prstGeom prst="rect">
            <a:avLst/>
          </a:prstGeom>
          <a:noFill/>
        </p:spPr>
        <p:txBody>
          <a:bodyPr wrap="square">
            <a:spAutoFit/>
          </a:bodyPr>
          <a:lstStyle/>
          <a:p>
            <a:pPr>
              <a:defRPr sz="2100" b="1">
                <a:solidFill>
                  <a:srgbClr val="FFFFFF"/>
                </a:solidFill>
              </a:defRPr>
            </a:pPr>
            <a:r>
              <a:t>Introduction &amp; Project Purpose</a:t>
            </a:r>
          </a:p>
        </p:txBody>
      </p:sp>
      <p:sp>
        <p:nvSpPr>
          <p:cNvPr id="7" name="TextBox 6"/>
          <p:cNvSpPr txBox="1"/>
          <p:nvPr/>
        </p:nvSpPr>
        <p:spPr>
          <a:xfrm>
            <a:off x="9144000" y="292608"/>
            <a:ext cx="2377440" cy="594360"/>
          </a:xfrm>
          <a:prstGeom prst="rect">
            <a:avLst/>
          </a:prstGeom>
          <a:noFill/>
        </p:spPr>
        <p:txBody>
          <a:bodyPr wrap="none">
            <a:spAutoFit/>
          </a:bodyPr>
          <a:lstStyle/>
          <a:p>
            <a:pPr algn="r">
              <a:defRPr sz="1050" b="1">
                <a:solidFill>
                  <a:srgbClr val="94A3B8"/>
                </a:solidFill>
              </a:defRPr>
            </a:pPr>
            <a:r>
              <a:t>SSPU BHILAI</a:t>
            </a:r>
            <a:br/>
            <a:r>
              <a:t>MCA DEPARTMENT</a:t>
            </a:r>
          </a:p>
        </p:txBody>
      </p:sp>
      <p:sp>
        <p:nvSpPr>
          <p:cNvPr id="8" name="TextBox 7"/>
          <p:cNvSpPr txBox="1"/>
          <p:nvPr/>
        </p:nvSpPr>
        <p:spPr>
          <a:xfrm>
            <a:off x="731520" y="6537960"/>
            <a:ext cx="10728655" cy="274320"/>
          </a:xfrm>
          <a:prstGeom prst="rect">
            <a:avLst/>
          </a:prstGeom>
          <a:noFill/>
        </p:spPr>
        <p:txBody>
          <a:bodyPr wrap="none">
            <a:spAutoFit/>
          </a:bodyPr>
          <a:lstStyle/>
          <a:p>
            <a:pPr>
              <a:defRPr sz="850">
                <a:solidFill>
                  <a:srgbClr val="64748B"/>
                </a:solidFill>
              </a:defRPr>
            </a:pPr>
            <a:r>
              <a:t>Ghidora Transport | Online Booking Transport Platform | Amit Kumar Sahu (2526002003) &amp; Raag Patel (2526002048) | Guide: Ms. Divya Jaiswal</a:t>
            </a:r>
          </a:p>
        </p:txBody>
      </p:sp>
      <p:sp>
        <p:nvSpPr>
          <p:cNvPr id="9" name="Rounded Rectangle 8"/>
          <p:cNvSpPr/>
          <p:nvPr/>
        </p:nvSpPr>
        <p:spPr>
          <a:xfrm>
            <a:off x="731520" y="1463040"/>
            <a:ext cx="52120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463040"/>
            <a:ext cx="5212080" cy="10972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691640"/>
            <a:ext cx="4754880" cy="4297680"/>
          </a:xfrm>
          <a:prstGeom prst="rect">
            <a:avLst/>
          </a:prstGeom>
          <a:noFill/>
        </p:spPr>
        <p:txBody>
          <a:bodyPr wrap="square">
            <a:spAutoFit/>
          </a:bodyPr>
          <a:lstStyle/>
          <a:p>
            <a:pPr>
              <a:defRPr sz="1400" b="1">
                <a:solidFill>
                  <a:srgbClr val="1E3A8A"/>
                </a:solidFill>
              </a:defRPr>
            </a:pPr>
            <a:r>
              <a:t>PROJECT INTRODUCTION</a:t>
            </a:r>
          </a:p>
          <a:p>
            <a:pPr>
              <a:spcBef>
                <a:spcPts val="600"/>
              </a:spcBef>
              <a:defRPr sz="1100" b="1">
                <a:solidFill>
                  <a:srgbClr val="2563EB"/>
                </a:solidFill>
              </a:defRPr>
            </a:pPr>
            <a:r>
              <a:t>✔ Web-Based Booking Platform:</a:t>
            </a:r>
          </a:p>
          <a:p>
            <a:pPr>
              <a:spcBef>
                <a:spcPts val="100"/>
              </a:spcBef>
              <a:defRPr sz="1000">
                <a:solidFill>
                  <a:srgbClr val="0F172A"/>
                </a:solidFill>
              </a:defRPr>
            </a:pPr>
            <a:r>
              <a:t>Ghidora Transport is a web-based platform developed to make local transport booking simple, fast, and accessible for everyone.</a:t>
            </a:r>
          </a:p>
          <a:p>
            <a:pPr>
              <a:spcBef>
                <a:spcPts val="600"/>
              </a:spcBef>
              <a:defRPr sz="1100" b="1">
                <a:solidFill>
                  <a:srgbClr val="2563EB"/>
                </a:solidFill>
              </a:defRPr>
            </a:pPr>
            <a:r>
              <a:t>✔ Customer Vehicle Selection:</a:t>
            </a:r>
          </a:p>
          <a:p>
            <a:pPr>
              <a:spcBef>
                <a:spcPts val="100"/>
              </a:spcBef>
              <a:defRPr sz="1000">
                <a:solidFill>
                  <a:srgbClr val="0F172A"/>
                </a:solidFill>
              </a:defRPr>
            </a:pPr>
            <a:r>
              <a:t>Provides an online way for customers to book a transport vehicle according to their specific requirements.</a:t>
            </a:r>
          </a:p>
          <a:p>
            <a:pPr>
              <a:spcBef>
                <a:spcPts val="600"/>
              </a:spcBef>
              <a:defRPr sz="1100" b="1">
                <a:solidFill>
                  <a:srgbClr val="2563EB"/>
                </a:solidFill>
              </a:defRPr>
            </a:pPr>
            <a:r>
              <a:t>✔ Easy Online Input:</a:t>
            </a:r>
          </a:p>
          <a:p>
            <a:pPr>
              <a:spcBef>
                <a:spcPts val="100"/>
              </a:spcBef>
              <a:defRPr sz="1000">
                <a:solidFill>
                  <a:srgbClr val="0F172A"/>
                </a:solidFill>
              </a:defRPr>
            </a:pPr>
            <a:r>
              <a:t>Users can enter their name, contact details, pickup location, drop location, booking date, and vehicle type through a clean web form.</a:t>
            </a:r>
          </a:p>
          <a:p>
            <a:pPr>
              <a:spcBef>
                <a:spcPts val="600"/>
              </a:spcBef>
              <a:defRPr sz="1100" b="1">
                <a:solidFill>
                  <a:srgbClr val="2563EB"/>
                </a:solidFill>
              </a:defRPr>
            </a:pPr>
            <a:r>
              <a:t>✔ Automated Fare Calculation:</a:t>
            </a:r>
          </a:p>
          <a:p>
            <a:pPr>
              <a:spcBef>
                <a:spcPts val="100"/>
              </a:spcBef>
              <a:defRPr sz="1000">
                <a:solidFill>
                  <a:srgbClr val="0F172A"/>
                </a:solidFill>
              </a:defRPr>
            </a:pPr>
            <a:r>
              <a:t>Provides instant fare calculation based on booking parameters, saving all booking information securely into a database.</a:t>
            </a:r>
          </a:p>
          <a:p>
            <a:pPr>
              <a:spcBef>
                <a:spcPts val="600"/>
              </a:spcBef>
              <a:defRPr sz="1100" b="1">
                <a:solidFill>
                  <a:srgbClr val="2563EB"/>
                </a:solidFill>
              </a:defRPr>
            </a:pPr>
            <a:r>
              <a:t>✔ Cross-Device Responsiveness:</a:t>
            </a:r>
          </a:p>
          <a:p>
            <a:pPr>
              <a:spcBef>
                <a:spcPts val="100"/>
              </a:spcBef>
              <a:defRPr sz="1000">
                <a:solidFill>
                  <a:srgbClr val="0F172A"/>
                </a:solidFill>
              </a:defRPr>
            </a:pPr>
            <a:r>
              <a:t>Designed to be responsive so that users can access the booking services smoothly from desktop computers as well as mobile phones.</a:t>
            </a:r>
          </a:p>
        </p:txBody>
      </p:sp>
      <p:sp>
        <p:nvSpPr>
          <p:cNvPr id="12" name="Rounded Rectangle 11"/>
          <p:cNvSpPr/>
          <p:nvPr/>
        </p:nvSpPr>
        <p:spPr>
          <a:xfrm>
            <a:off x="6217920" y="1463040"/>
            <a:ext cx="52120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463040"/>
            <a:ext cx="5212080" cy="10972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1691640"/>
            <a:ext cx="4754880" cy="4297680"/>
          </a:xfrm>
          <a:prstGeom prst="rect">
            <a:avLst/>
          </a:prstGeom>
          <a:noFill/>
        </p:spPr>
        <p:txBody>
          <a:bodyPr wrap="square">
            <a:spAutoFit/>
          </a:bodyPr>
          <a:lstStyle/>
          <a:p>
            <a:pPr>
              <a:defRPr sz="1400" b="1">
                <a:solidFill>
                  <a:srgbClr val="D97706"/>
                </a:solidFill>
              </a:defRPr>
            </a:pPr>
            <a:r>
              <a:t>CORE PROJECT PURPOSE</a:t>
            </a:r>
          </a:p>
          <a:p>
            <a:pPr>
              <a:spcBef>
                <a:spcPts val="600"/>
              </a:spcBef>
              <a:defRPr sz="1100" b="1">
                <a:solidFill>
                  <a:srgbClr val="1E3A8A"/>
                </a:solidFill>
              </a:defRPr>
            </a:pPr>
            <a:r>
              <a:t>🎯 Simplifying Local Bookings:</a:t>
            </a:r>
          </a:p>
          <a:p>
            <a:pPr>
              <a:spcBef>
                <a:spcPts val="100"/>
              </a:spcBef>
              <a:defRPr sz="1000">
                <a:solidFill>
                  <a:srgbClr val="0F172A"/>
                </a:solidFill>
              </a:defRPr>
            </a:pPr>
            <a:r>
              <a:t>The main purpose of Ghidora Transport is to make local transport booking easier and hassle-free for customers.</a:t>
            </a:r>
          </a:p>
          <a:p>
            <a:pPr>
              <a:spcBef>
                <a:spcPts val="600"/>
              </a:spcBef>
              <a:defRPr sz="1100" b="1">
                <a:solidFill>
                  <a:srgbClr val="1E3A8A"/>
                </a:solidFill>
              </a:defRPr>
            </a:pPr>
            <a:r>
              <a:t>🎯 Overcoming Phone Call Bottlenecks:</a:t>
            </a:r>
          </a:p>
          <a:p>
            <a:pPr>
              <a:spcBef>
                <a:spcPts val="100"/>
              </a:spcBef>
              <a:defRPr sz="1000">
                <a:solidFill>
                  <a:srgbClr val="0F172A"/>
                </a:solidFill>
              </a:defRPr>
            </a:pPr>
            <a:r>
              <a:t>Many local transport services depend on phone calls and manual communication, requiring customers to repeatedly ask about rates and vehicles.</a:t>
            </a:r>
          </a:p>
          <a:p>
            <a:pPr>
              <a:spcBef>
                <a:spcPts val="600"/>
              </a:spcBef>
              <a:defRPr sz="1100" b="1">
                <a:solidFill>
                  <a:srgbClr val="1E3A8A"/>
                </a:solidFill>
              </a:defRPr>
            </a:pPr>
            <a:r>
              <a:t>🎯 Single Unified Digital Portal:</a:t>
            </a:r>
          </a:p>
          <a:p>
            <a:pPr>
              <a:spcBef>
                <a:spcPts val="100"/>
              </a:spcBef>
              <a:defRPr sz="1000">
                <a:solidFill>
                  <a:srgbClr val="0F172A"/>
                </a:solidFill>
              </a:defRPr>
            </a:pPr>
            <a:r>
              <a:t>Ghidora Transport provides all basic services through a single website where customers enter requirements and submit requests online.</a:t>
            </a:r>
          </a:p>
          <a:p>
            <a:pPr>
              <a:spcBef>
                <a:spcPts val="600"/>
              </a:spcBef>
              <a:defRPr sz="1100" b="1">
                <a:solidFill>
                  <a:srgbClr val="1E3A8A"/>
                </a:solidFill>
              </a:defRPr>
            </a:pPr>
            <a:r>
              <a:t>🎯 Digital Record Management:</a:t>
            </a:r>
          </a:p>
          <a:p>
            <a:pPr>
              <a:spcBef>
                <a:spcPts val="100"/>
              </a:spcBef>
              <a:defRPr sz="1000">
                <a:solidFill>
                  <a:srgbClr val="0F172A"/>
                </a:solidFill>
              </a:defRPr>
            </a:pPr>
            <a:r>
              <a:t>Helps in storing booking details digitally, making booking information easy to manage, audit, and retrieve at any time.</a:t>
            </a:r>
          </a:p>
          <a:p>
            <a:pPr>
              <a:spcBef>
                <a:spcPts val="600"/>
              </a:spcBef>
              <a:defRPr sz="1100" b="1">
                <a:solidFill>
                  <a:srgbClr val="1E3A8A"/>
                </a:solidFill>
              </a:defRPr>
            </a:pPr>
            <a:r>
              <a:t>🎯 Affordable &amp; Transparent:</a:t>
            </a:r>
          </a:p>
          <a:p>
            <a:pPr>
              <a:spcBef>
                <a:spcPts val="100"/>
              </a:spcBef>
              <a:defRPr sz="1000">
                <a:solidFill>
                  <a:srgbClr val="0F172A"/>
                </a:solidFill>
              </a:defRPr>
            </a:pPr>
            <a:r>
              <a:t>Eliminates confusion and hidden charges by providing transparent fare estimation before booking confirmation.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102412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8229600" cy="274320"/>
          </a:xfrm>
          <a:prstGeom prst="rect">
            <a:avLst/>
          </a:prstGeom>
          <a:noFill/>
        </p:spPr>
        <p:txBody>
          <a:bodyPr wrap="square">
            <a:spAutoFit/>
          </a:bodyPr>
          <a:lstStyle/>
          <a:p>
            <a:pPr>
              <a:defRPr sz="1000" b="1">
                <a:solidFill>
                  <a:srgbClr val="D97706"/>
                </a:solidFill>
              </a:defRPr>
            </a:pPr>
            <a:r>
              <a:t>SECTION 1: INTRODUCTION</a:t>
            </a:r>
          </a:p>
        </p:txBody>
      </p:sp>
      <p:sp>
        <p:nvSpPr>
          <p:cNvPr id="6" name="TextBox 5"/>
          <p:cNvSpPr txBox="1"/>
          <p:nvPr/>
        </p:nvSpPr>
        <p:spPr>
          <a:xfrm>
            <a:off x="731520" y="438912"/>
            <a:ext cx="8686800" cy="594360"/>
          </a:xfrm>
          <a:prstGeom prst="rect">
            <a:avLst/>
          </a:prstGeom>
          <a:noFill/>
        </p:spPr>
        <p:txBody>
          <a:bodyPr wrap="square">
            <a:spAutoFit/>
          </a:bodyPr>
          <a:lstStyle/>
          <a:p>
            <a:pPr>
              <a:defRPr sz="2100" b="1">
                <a:solidFill>
                  <a:srgbClr val="FFFFFF"/>
                </a:solidFill>
              </a:defRPr>
            </a:pPr>
            <a:r>
              <a:t>Problem Solving Statement</a:t>
            </a:r>
          </a:p>
        </p:txBody>
      </p:sp>
      <p:sp>
        <p:nvSpPr>
          <p:cNvPr id="7" name="TextBox 6"/>
          <p:cNvSpPr txBox="1"/>
          <p:nvPr/>
        </p:nvSpPr>
        <p:spPr>
          <a:xfrm>
            <a:off x="9144000" y="292608"/>
            <a:ext cx="2377440" cy="594360"/>
          </a:xfrm>
          <a:prstGeom prst="rect">
            <a:avLst/>
          </a:prstGeom>
          <a:noFill/>
        </p:spPr>
        <p:txBody>
          <a:bodyPr wrap="none">
            <a:spAutoFit/>
          </a:bodyPr>
          <a:lstStyle/>
          <a:p>
            <a:pPr algn="r">
              <a:defRPr sz="1050" b="1">
                <a:solidFill>
                  <a:srgbClr val="94A3B8"/>
                </a:solidFill>
              </a:defRPr>
            </a:pPr>
            <a:r>
              <a:t>SSPU BHILAI</a:t>
            </a:r>
            <a:br/>
            <a:r>
              <a:t>MCA DEPARTMENT</a:t>
            </a:r>
          </a:p>
        </p:txBody>
      </p:sp>
      <p:sp>
        <p:nvSpPr>
          <p:cNvPr id="8" name="TextBox 7"/>
          <p:cNvSpPr txBox="1"/>
          <p:nvPr/>
        </p:nvSpPr>
        <p:spPr>
          <a:xfrm>
            <a:off x="731520" y="6537960"/>
            <a:ext cx="10728655" cy="274320"/>
          </a:xfrm>
          <a:prstGeom prst="rect">
            <a:avLst/>
          </a:prstGeom>
          <a:noFill/>
        </p:spPr>
        <p:txBody>
          <a:bodyPr wrap="none">
            <a:spAutoFit/>
          </a:bodyPr>
          <a:lstStyle/>
          <a:p>
            <a:pPr>
              <a:defRPr sz="850">
                <a:solidFill>
                  <a:srgbClr val="64748B"/>
                </a:solidFill>
              </a:defRPr>
            </a:pPr>
            <a:r>
              <a:t>Ghidora Transport | Online Booking Transport Platform | Amit Kumar Sahu (2526002003) &amp; Raag Patel (2526002048) | Guide: Ms. Divya Jaiswal</a:t>
            </a:r>
          </a:p>
        </p:txBody>
      </p:sp>
      <p:sp>
        <p:nvSpPr>
          <p:cNvPr id="9" name="Rounded Rectangle 8"/>
          <p:cNvSpPr/>
          <p:nvPr/>
        </p:nvSpPr>
        <p:spPr>
          <a:xfrm>
            <a:off x="731520" y="1463040"/>
            <a:ext cx="52120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463040"/>
            <a:ext cx="5212080" cy="109728"/>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691640"/>
            <a:ext cx="4754880" cy="4297680"/>
          </a:xfrm>
          <a:prstGeom prst="rect">
            <a:avLst/>
          </a:prstGeom>
          <a:noFill/>
        </p:spPr>
        <p:txBody>
          <a:bodyPr wrap="square">
            <a:spAutoFit/>
          </a:bodyPr>
          <a:lstStyle/>
          <a:p>
            <a:pPr>
              <a:defRPr sz="1400" b="1">
                <a:solidFill>
                  <a:srgbClr val="EF4444"/>
                </a:solidFill>
              </a:defRPr>
            </a:pPr>
            <a:r>
              <a:t>THE TRADITIONAL PROBLEM</a:t>
            </a:r>
          </a:p>
          <a:p>
            <a:pPr>
              <a:spcBef>
                <a:spcPts val="800"/>
              </a:spcBef>
              <a:defRPr sz="1100" b="1">
                <a:solidFill>
                  <a:srgbClr val="DC2626"/>
                </a:solidFill>
              </a:defRPr>
            </a:pPr>
            <a:r>
              <a:t>❌ Manual Phone Dependency:</a:t>
            </a:r>
          </a:p>
          <a:p>
            <a:pPr>
              <a:spcBef>
                <a:spcPts val="100"/>
              </a:spcBef>
              <a:defRPr sz="1000">
                <a:solidFill>
                  <a:srgbClr val="0F172A"/>
                </a:solidFill>
              </a:defRPr>
            </a:pPr>
            <a:r>
              <a:t>Customers usually have to call the transport provider or physically visit the stand to book a vehicle.</a:t>
            </a:r>
          </a:p>
          <a:p>
            <a:pPr>
              <a:spcBef>
                <a:spcPts val="800"/>
              </a:spcBef>
              <a:defRPr sz="1100" b="1">
                <a:solidFill>
                  <a:srgbClr val="DC2626"/>
                </a:solidFill>
              </a:defRPr>
            </a:pPr>
            <a:r>
              <a:t>❌ Repetitive Inquiries:</a:t>
            </a:r>
          </a:p>
          <a:p>
            <a:pPr>
              <a:spcBef>
                <a:spcPts val="100"/>
              </a:spcBef>
              <a:defRPr sz="1000">
                <a:solidFill>
                  <a:srgbClr val="0F172A"/>
                </a:solidFill>
              </a:defRPr>
            </a:pPr>
            <a:r>
              <a:t>Customers must separately explain requirements, ask about vehicle availability, and repeatedly negotiate the fare.</a:t>
            </a:r>
          </a:p>
          <a:p>
            <a:pPr>
              <a:spcBef>
                <a:spcPts val="800"/>
              </a:spcBef>
              <a:defRPr sz="1100" b="1">
                <a:solidFill>
                  <a:srgbClr val="DC2626"/>
                </a:solidFill>
              </a:defRPr>
            </a:pPr>
            <a:r>
              <a:t>❌ Time-Consuming Process:</a:t>
            </a:r>
          </a:p>
          <a:p>
            <a:pPr>
              <a:spcBef>
                <a:spcPts val="100"/>
              </a:spcBef>
              <a:defRPr sz="1000">
                <a:solidFill>
                  <a:srgbClr val="0F172A"/>
                </a:solidFill>
              </a:defRPr>
            </a:pPr>
            <a:r>
              <a:t>This traditional manual approach takes significant time, leading to delayed transport dispatch.</a:t>
            </a:r>
          </a:p>
          <a:p>
            <a:pPr>
              <a:spcBef>
                <a:spcPts val="800"/>
              </a:spcBef>
              <a:defRPr sz="1100" b="1">
                <a:solidFill>
                  <a:srgbClr val="DC2626"/>
                </a:solidFill>
              </a:defRPr>
            </a:pPr>
            <a:r>
              <a:t>❌ Improper Recordkeeping:</a:t>
            </a:r>
          </a:p>
          <a:p>
            <a:pPr>
              <a:spcBef>
                <a:spcPts val="100"/>
              </a:spcBef>
              <a:defRPr sz="1000">
                <a:solidFill>
                  <a:srgbClr val="0F172A"/>
                </a:solidFill>
              </a:defRPr>
            </a:pPr>
            <a:r>
              <a:t>Booking information may not always be recorded properly, leading to lost entries and scheduling disputes.</a:t>
            </a:r>
          </a:p>
        </p:txBody>
      </p:sp>
      <p:sp>
        <p:nvSpPr>
          <p:cNvPr id="12" name="Rounded Rectangle 11"/>
          <p:cNvSpPr/>
          <p:nvPr/>
        </p:nvSpPr>
        <p:spPr>
          <a:xfrm>
            <a:off x="6217920" y="1463040"/>
            <a:ext cx="52120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463040"/>
            <a:ext cx="5212080" cy="10972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1691640"/>
            <a:ext cx="4754880" cy="4297680"/>
          </a:xfrm>
          <a:prstGeom prst="rect">
            <a:avLst/>
          </a:prstGeom>
          <a:noFill/>
        </p:spPr>
        <p:txBody>
          <a:bodyPr wrap="square">
            <a:spAutoFit/>
          </a:bodyPr>
          <a:lstStyle/>
          <a:p>
            <a:pPr>
              <a:defRPr sz="1400" b="1">
                <a:solidFill>
                  <a:srgbClr val="10B981"/>
                </a:solidFill>
              </a:defRPr>
            </a:pPr>
            <a:r>
              <a:t>THE GHIDORA TRANSPORT SOLUTION</a:t>
            </a:r>
          </a:p>
          <a:p>
            <a:pPr>
              <a:spcBef>
                <a:spcPts val="800"/>
              </a:spcBef>
              <a:defRPr sz="1100" b="1">
                <a:solidFill>
                  <a:srgbClr val="10B981"/>
                </a:solidFill>
              </a:defRPr>
            </a:pPr>
            <a:r>
              <a:t>✔ Online Booking Solution:</a:t>
            </a:r>
          </a:p>
          <a:p>
            <a:pPr>
              <a:spcBef>
                <a:spcPts val="100"/>
              </a:spcBef>
              <a:defRPr sz="1000">
                <a:solidFill>
                  <a:srgbClr val="0F172A"/>
                </a:solidFill>
              </a:defRPr>
            </a:pPr>
            <a:r>
              <a:t>Users visit the website and enter their travel details directly into an interactive booking form.</a:t>
            </a:r>
          </a:p>
          <a:p>
            <a:pPr>
              <a:spcBef>
                <a:spcPts val="800"/>
              </a:spcBef>
              <a:defRPr sz="1100" b="1">
                <a:solidFill>
                  <a:srgbClr val="10B981"/>
                </a:solidFill>
              </a:defRPr>
            </a:pPr>
            <a:r>
              <a:t>✔ Instant Vehicle &amp; Date Choice:</a:t>
            </a:r>
          </a:p>
          <a:p>
            <a:pPr>
              <a:spcBef>
                <a:spcPts val="100"/>
              </a:spcBef>
              <a:defRPr sz="1000">
                <a:solidFill>
                  <a:srgbClr val="0F172A"/>
                </a:solidFill>
              </a:defRPr>
            </a:pPr>
            <a:r>
              <a:t>Allows users to select pickup &amp; drop locations, choose required vehicle type, select date, and enter contact details.</a:t>
            </a:r>
          </a:p>
          <a:p>
            <a:pPr>
              <a:spcBef>
                <a:spcPts val="800"/>
              </a:spcBef>
              <a:defRPr sz="1100" b="1">
                <a:solidFill>
                  <a:srgbClr val="10B981"/>
                </a:solidFill>
              </a:defRPr>
            </a:pPr>
            <a:r>
              <a:t>✔ Clear Fare Calculation:</a:t>
            </a:r>
          </a:p>
          <a:p>
            <a:pPr>
              <a:spcBef>
                <a:spcPts val="100"/>
              </a:spcBef>
              <a:defRPr sz="1000">
                <a:solidFill>
                  <a:srgbClr val="0F172A"/>
                </a:solidFill>
              </a:defRPr>
            </a:pPr>
            <a:r>
              <a:t>Automatically calculates fare information upfront before the user submits the booking online.</a:t>
            </a:r>
          </a:p>
          <a:p>
            <a:pPr>
              <a:spcBef>
                <a:spcPts val="800"/>
              </a:spcBef>
              <a:defRPr sz="1100" b="1">
                <a:solidFill>
                  <a:srgbClr val="10B981"/>
                </a:solidFill>
              </a:defRPr>
            </a:pPr>
            <a:r>
              <a:t>✔ Centralized SQLite Database:</a:t>
            </a:r>
          </a:p>
          <a:p>
            <a:pPr>
              <a:spcBef>
                <a:spcPts val="100"/>
              </a:spcBef>
              <a:defRPr sz="1000">
                <a:solidFill>
                  <a:srgbClr val="0F172A"/>
                </a:solidFill>
              </a:defRPr>
            </a:pPr>
            <a:r>
              <a:t>All booking information is saved digitally in SQLite, making data instantly accessible, organized, and auditable.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102412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8229600" cy="274320"/>
          </a:xfrm>
          <a:prstGeom prst="rect">
            <a:avLst/>
          </a:prstGeom>
          <a:noFill/>
        </p:spPr>
        <p:txBody>
          <a:bodyPr wrap="square">
            <a:spAutoFit/>
          </a:bodyPr>
          <a:lstStyle/>
          <a:p>
            <a:pPr>
              <a:defRPr sz="1000" b="1">
                <a:solidFill>
                  <a:srgbClr val="D97706"/>
                </a:solidFill>
              </a:defRPr>
            </a:pPr>
            <a:r>
              <a:t>SECTION 1: INTRODUCTION</a:t>
            </a:r>
          </a:p>
        </p:txBody>
      </p:sp>
      <p:sp>
        <p:nvSpPr>
          <p:cNvPr id="6" name="TextBox 5"/>
          <p:cNvSpPr txBox="1"/>
          <p:nvPr/>
        </p:nvSpPr>
        <p:spPr>
          <a:xfrm>
            <a:off x="731520" y="438912"/>
            <a:ext cx="8686800" cy="594360"/>
          </a:xfrm>
          <a:prstGeom prst="rect">
            <a:avLst/>
          </a:prstGeom>
          <a:noFill/>
        </p:spPr>
        <p:txBody>
          <a:bodyPr wrap="square">
            <a:spAutoFit/>
          </a:bodyPr>
          <a:lstStyle/>
          <a:p>
            <a:pPr>
              <a:defRPr sz="2100" b="1">
                <a:solidFill>
                  <a:srgbClr val="FFFFFF"/>
                </a:solidFill>
              </a:defRPr>
            </a:pPr>
            <a:r>
              <a:t>Objectives of the Project</a:t>
            </a:r>
          </a:p>
        </p:txBody>
      </p:sp>
      <p:sp>
        <p:nvSpPr>
          <p:cNvPr id="7" name="TextBox 6"/>
          <p:cNvSpPr txBox="1"/>
          <p:nvPr/>
        </p:nvSpPr>
        <p:spPr>
          <a:xfrm>
            <a:off x="9144000" y="292608"/>
            <a:ext cx="2377440" cy="594360"/>
          </a:xfrm>
          <a:prstGeom prst="rect">
            <a:avLst/>
          </a:prstGeom>
          <a:noFill/>
        </p:spPr>
        <p:txBody>
          <a:bodyPr wrap="none">
            <a:spAutoFit/>
          </a:bodyPr>
          <a:lstStyle/>
          <a:p>
            <a:pPr algn="r">
              <a:defRPr sz="1050" b="1">
                <a:solidFill>
                  <a:srgbClr val="94A3B8"/>
                </a:solidFill>
              </a:defRPr>
            </a:pPr>
            <a:r>
              <a:t>SSPU BHILAI</a:t>
            </a:r>
            <a:br/>
            <a:r>
              <a:t>MCA DEPARTMENT</a:t>
            </a:r>
          </a:p>
        </p:txBody>
      </p:sp>
      <p:sp>
        <p:nvSpPr>
          <p:cNvPr id="8" name="TextBox 7"/>
          <p:cNvSpPr txBox="1"/>
          <p:nvPr/>
        </p:nvSpPr>
        <p:spPr>
          <a:xfrm>
            <a:off x="731520" y="6537960"/>
            <a:ext cx="10728655" cy="274320"/>
          </a:xfrm>
          <a:prstGeom prst="rect">
            <a:avLst/>
          </a:prstGeom>
          <a:noFill/>
        </p:spPr>
        <p:txBody>
          <a:bodyPr wrap="none">
            <a:spAutoFit/>
          </a:bodyPr>
          <a:lstStyle/>
          <a:p>
            <a:pPr>
              <a:defRPr sz="850">
                <a:solidFill>
                  <a:srgbClr val="64748B"/>
                </a:solidFill>
              </a:defRPr>
            </a:pPr>
            <a:r>
              <a:t>Ghidora Transport | Online Booking Transport Platform | Amit Kumar Sahu (2526002003) &amp; Raag Patel (2526002048) | Guide: Ms. Divya Jaiswal</a:t>
            </a:r>
          </a:p>
        </p:txBody>
      </p:sp>
      <p:sp>
        <p:nvSpPr>
          <p:cNvPr id="9" name="Rounded Rectangle 8"/>
          <p:cNvSpPr/>
          <p:nvPr/>
        </p:nvSpPr>
        <p:spPr>
          <a:xfrm>
            <a:off x="731520" y="1463040"/>
            <a:ext cx="52120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600200"/>
            <a:ext cx="4846320" cy="4389120"/>
          </a:xfrm>
          <a:prstGeom prst="rect">
            <a:avLst/>
          </a:prstGeom>
          <a:noFill/>
        </p:spPr>
        <p:txBody>
          <a:bodyPr wrap="square">
            <a:spAutoFit/>
          </a:bodyPr>
          <a:lstStyle/>
          <a:p>
            <a:pPr>
              <a:defRPr sz="1200" b="1">
                <a:solidFill>
                  <a:srgbClr val="1E3A8A"/>
                </a:solidFill>
              </a:defRPr>
            </a:pPr>
            <a:r>
              <a:t>CORE FUNCTIONAL OBJECTIVES</a:t>
            </a:r>
          </a:p>
          <a:p>
            <a:pPr>
              <a:spcBef>
                <a:spcPts val="600"/>
              </a:spcBef>
              <a:defRPr sz="1100" b="1">
                <a:solidFill>
                  <a:srgbClr val="2563EB"/>
                </a:solidFill>
              </a:defRPr>
            </a:pPr>
            <a:r>
              <a:t>🎯 Online Booking Facility</a:t>
            </a:r>
          </a:p>
          <a:p>
            <a:pPr>
              <a:spcBef>
                <a:spcPts val="100"/>
              </a:spcBef>
              <a:defRPr sz="950">
                <a:solidFill>
                  <a:srgbClr val="0F172A"/>
                </a:solidFill>
              </a:defRPr>
            </a:pPr>
            <a:r>
              <a:t>To provide an online transport booking facility accessible 24/7.</a:t>
            </a:r>
          </a:p>
          <a:p>
            <a:pPr>
              <a:spcBef>
                <a:spcPts val="600"/>
              </a:spcBef>
              <a:defRPr sz="1100" b="1">
                <a:solidFill>
                  <a:srgbClr val="2563EB"/>
                </a:solidFill>
              </a:defRPr>
            </a:pPr>
            <a:r>
              <a:t>🎯 Simple &amp; Easy Booking</a:t>
            </a:r>
          </a:p>
          <a:p>
            <a:pPr>
              <a:spcBef>
                <a:spcPts val="100"/>
              </a:spcBef>
              <a:defRPr sz="950">
                <a:solidFill>
                  <a:srgbClr val="0F172A"/>
                </a:solidFill>
              </a:defRPr>
            </a:pPr>
            <a:r>
              <a:t>To make the booking process simple, intuitive, and user-friendly.</a:t>
            </a:r>
          </a:p>
          <a:p>
            <a:pPr>
              <a:spcBef>
                <a:spcPts val="600"/>
              </a:spcBef>
              <a:defRPr sz="1100" b="1">
                <a:solidFill>
                  <a:srgbClr val="2563EB"/>
                </a:solidFill>
              </a:defRPr>
            </a:pPr>
            <a:r>
              <a:t>🎯 Suitable Vehicle Selection</a:t>
            </a:r>
          </a:p>
          <a:p>
            <a:pPr>
              <a:spcBef>
                <a:spcPts val="100"/>
              </a:spcBef>
              <a:defRPr sz="950">
                <a:solidFill>
                  <a:srgbClr val="0F172A"/>
                </a:solidFill>
              </a:defRPr>
            </a:pPr>
            <a:r>
              <a:t>To allow users to select a suitable transport vehicle per their cargo needs.</a:t>
            </a:r>
          </a:p>
          <a:p>
            <a:pPr>
              <a:spcBef>
                <a:spcPts val="600"/>
              </a:spcBef>
              <a:defRPr sz="1100" b="1">
                <a:solidFill>
                  <a:srgbClr val="2563EB"/>
                </a:solidFill>
              </a:defRPr>
            </a:pPr>
            <a:r>
              <a:t>🎯 Location Details Capture</a:t>
            </a:r>
          </a:p>
          <a:p>
            <a:pPr>
              <a:spcBef>
                <a:spcPts val="100"/>
              </a:spcBef>
              <a:defRPr sz="950">
                <a:solidFill>
                  <a:srgbClr val="0F172A"/>
                </a:solidFill>
              </a:defRPr>
            </a:pPr>
            <a:r>
              <a:t>To collect precise pickup and drop location details smoothly.</a:t>
            </a:r>
          </a:p>
          <a:p>
            <a:pPr>
              <a:spcBef>
                <a:spcPts val="600"/>
              </a:spcBef>
              <a:defRPr sz="1100" b="1">
                <a:solidFill>
                  <a:srgbClr val="2563EB"/>
                </a:solidFill>
              </a:defRPr>
            </a:pPr>
            <a:r>
              <a:t>🎯 Automated Fare Calculation</a:t>
            </a:r>
          </a:p>
          <a:p>
            <a:pPr>
              <a:spcBef>
                <a:spcPts val="100"/>
              </a:spcBef>
              <a:defRPr sz="950">
                <a:solidFill>
                  <a:srgbClr val="0F172A"/>
                </a:solidFill>
              </a:defRPr>
            </a:pPr>
            <a:r>
              <a:t>To provide accurate fare calculation for the booking upfront.</a:t>
            </a:r>
          </a:p>
          <a:p>
            <a:pPr>
              <a:spcBef>
                <a:spcPts val="600"/>
              </a:spcBef>
              <a:defRPr sz="1100" b="1">
                <a:solidFill>
                  <a:srgbClr val="2563EB"/>
                </a:solidFill>
              </a:defRPr>
            </a:pPr>
            <a:r>
              <a:t>🎯 Digital Database Storage</a:t>
            </a:r>
          </a:p>
          <a:p>
            <a:pPr>
              <a:spcBef>
                <a:spcPts val="100"/>
              </a:spcBef>
              <a:defRPr sz="950">
                <a:solidFill>
                  <a:srgbClr val="0F172A"/>
                </a:solidFill>
              </a:defRPr>
            </a:pPr>
            <a:r>
              <a:t>To save all booking information securely in a structured database.</a:t>
            </a:r>
          </a:p>
        </p:txBody>
      </p:sp>
      <p:sp>
        <p:nvSpPr>
          <p:cNvPr id="11" name="Rounded Rectangle 10"/>
          <p:cNvSpPr/>
          <p:nvPr/>
        </p:nvSpPr>
        <p:spPr>
          <a:xfrm>
            <a:off x="6217920" y="1463040"/>
            <a:ext cx="52120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600200"/>
            <a:ext cx="4846320" cy="4389120"/>
          </a:xfrm>
          <a:prstGeom prst="rect">
            <a:avLst/>
          </a:prstGeom>
          <a:noFill/>
        </p:spPr>
        <p:txBody>
          <a:bodyPr wrap="square">
            <a:spAutoFit/>
          </a:bodyPr>
          <a:lstStyle/>
          <a:p>
            <a:pPr>
              <a:defRPr sz="1200" b="1">
                <a:solidFill>
                  <a:srgbClr val="D97706"/>
                </a:solidFill>
              </a:defRPr>
            </a:pPr>
            <a:r>
              <a:t>OPERATIONAL &amp; USER OBJECTIVES</a:t>
            </a:r>
          </a:p>
          <a:p>
            <a:pPr>
              <a:spcBef>
                <a:spcPts val="600"/>
              </a:spcBef>
              <a:defRPr sz="1100" b="1">
                <a:solidFill>
                  <a:srgbClr val="D97706"/>
                </a:solidFill>
              </a:defRPr>
            </a:pPr>
            <a:r>
              <a:t>🎯 Reduce Manual Booking</a:t>
            </a:r>
          </a:p>
          <a:p>
            <a:pPr>
              <a:spcBef>
                <a:spcPts val="100"/>
              </a:spcBef>
              <a:defRPr sz="950">
                <a:solidFill>
                  <a:srgbClr val="0F172A"/>
                </a:solidFill>
              </a:defRPr>
            </a:pPr>
            <a:r>
              <a:t>To reduce the need for manual, error-prone phone call bookings.</a:t>
            </a:r>
          </a:p>
          <a:p>
            <a:pPr>
              <a:spcBef>
                <a:spcPts val="600"/>
              </a:spcBef>
              <a:defRPr sz="1100" b="1">
                <a:solidFill>
                  <a:srgbClr val="D97706"/>
                </a:solidFill>
              </a:defRPr>
            </a:pPr>
            <a:r>
              <a:t>🎯 Save Time for Customers</a:t>
            </a:r>
          </a:p>
          <a:p>
            <a:pPr>
              <a:spcBef>
                <a:spcPts val="100"/>
              </a:spcBef>
              <a:defRPr sz="950">
                <a:solidFill>
                  <a:srgbClr val="0F172A"/>
                </a:solidFill>
              </a:defRPr>
            </a:pPr>
            <a:r>
              <a:t>To save valuable time for customers and transporters alike.</a:t>
            </a:r>
          </a:p>
          <a:p>
            <a:pPr>
              <a:spcBef>
                <a:spcPts val="600"/>
              </a:spcBef>
              <a:defRPr sz="1100" b="1">
                <a:solidFill>
                  <a:srgbClr val="D97706"/>
                </a:solidFill>
              </a:defRPr>
            </a:pPr>
            <a:r>
              <a:t>🎯 User-Friendly Website</a:t>
            </a:r>
          </a:p>
          <a:p>
            <a:pPr>
              <a:spcBef>
                <a:spcPts val="100"/>
              </a:spcBef>
              <a:defRPr sz="950">
                <a:solidFill>
                  <a:srgbClr val="0F172A"/>
                </a:solidFill>
              </a:defRPr>
            </a:pPr>
            <a:r>
              <a:t>To provide a clean, simple, and intuitive website interface.</a:t>
            </a:r>
          </a:p>
          <a:p>
            <a:pPr>
              <a:spcBef>
                <a:spcPts val="600"/>
              </a:spcBef>
              <a:defRPr sz="1100" b="1">
                <a:solidFill>
                  <a:srgbClr val="D97706"/>
                </a:solidFill>
              </a:defRPr>
            </a:pPr>
            <a:r>
              <a:t>🎯 Cross-Device Responsiveness</a:t>
            </a:r>
          </a:p>
          <a:p>
            <a:pPr>
              <a:spcBef>
                <a:spcPts val="100"/>
              </a:spcBef>
              <a:defRPr sz="950">
                <a:solidFill>
                  <a:srgbClr val="0F172A"/>
                </a:solidFill>
              </a:defRPr>
            </a:pPr>
            <a:r>
              <a:t>To make the website responsive for both mobile and computer users.</a:t>
            </a:r>
          </a:p>
          <a:p>
            <a:pPr>
              <a:spcBef>
                <a:spcPts val="600"/>
              </a:spcBef>
              <a:defRPr sz="1100" b="1">
                <a:solidFill>
                  <a:srgbClr val="D97706"/>
                </a:solidFill>
              </a:defRPr>
            </a:pPr>
            <a:r>
              <a:t>🎯 Digital Transport Ecosystem</a:t>
            </a:r>
          </a:p>
          <a:p>
            <a:pPr>
              <a:spcBef>
                <a:spcPts val="100"/>
              </a:spcBef>
              <a:defRPr sz="950">
                <a:solidFill>
                  <a:srgbClr val="0F172A"/>
                </a:solidFill>
              </a:defRPr>
            </a:pPr>
            <a:r>
              <a:t>To provide a modern, organized digital platform for local transport services.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102412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8229600" cy="274320"/>
          </a:xfrm>
          <a:prstGeom prst="rect">
            <a:avLst/>
          </a:prstGeom>
          <a:noFill/>
        </p:spPr>
        <p:txBody>
          <a:bodyPr wrap="square">
            <a:spAutoFit/>
          </a:bodyPr>
          <a:lstStyle/>
          <a:p>
            <a:pPr>
              <a:defRPr sz="1000" b="1">
                <a:solidFill>
                  <a:srgbClr val="D97706"/>
                </a:solidFill>
              </a:defRPr>
            </a:pPr>
            <a:r>
              <a:t>SECTION 2: H/W &amp; S/W REQUIREMENTS</a:t>
            </a:r>
          </a:p>
        </p:txBody>
      </p:sp>
      <p:sp>
        <p:nvSpPr>
          <p:cNvPr id="6" name="TextBox 5"/>
          <p:cNvSpPr txBox="1"/>
          <p:nvPr/>
        </p:nvSpPr>
        <p:spPr>
          <a:xfrm>
            <a:off x="731520" y="438912"/>
            <a:ext cx="8686800" cy="594360"/>
          </a:xfrm>
          <a:prstGeom prst="rect">
            <a:avLst/>
          </a:prstGeom>
          <a:noFill/>
        </p:spPr>
        <p:txBody>
          <a:bodyPr wrap="square">
            <a:spAutoFit/>
          </a:bodyPr>
          <a:lstStyle/>
          <a:p>
            <a:pPr>
              <a:defRPr sz="2100" b="1">
                <a:solidFill>
                  <a:srgbClr val="FFFFFF"/>
                </a:solidFill>
              </a:defRPr>
            </a:pPr>
            <a:r>
              <a:t>Hardware &amp; Software Requirements</a:t>
            </a:r>
          </a:p>
        </p:txBody>
      </p:sp>
      <p:sp>
        <p:nvSpPr>
          <p:cNvPr id="7" name="TextBox 6"/>
          <p:cNvSpPr txBox="1"/>
          <p:nvPr/>
        </p:nvSpPr>
        <p:spPr>
          <a:xfrm>
            <a:off x="9144000" y="292608"/>
            <a:ext cx="2377440" cy="594360"/>
          </a:xfrm>
          <a:prstGeom prst="rect">
            <a:avLst/>
          </a:prstGeom>
          <a:noFill/>
        </p:spPr>
        <p:txBody>
          <a:bodyPr wrap="none">
            <a:spAutoFit/>
          </a:bodyPr>
          <a:lstStyle/>
          <a:p>
            <a:pPr algn="r">
              <a:defRPr sz="1050" b="1">
                <a:solidFill>
                  <a:srgbClr val="94A3B8"/>
                </a:solidFill>
              </a:defRPr>
            </a:pPr>
            <a:r>
              <a:t>SSPU BHILAI</a:t>
            </a:r>
            <a:br/>
            <a:r>
              <a:t>MCA DEPARTMENT</a:t>
            </a:r>
          </a:p>
        </p:txBody>
      </p:sp>
      <p:sp>
        <p:nvSpPr>
          <p:cNvPr id="8" name="TextBox 7"/>
          <p:cNvSpPr txBox="1"/>
          <p:nvPr/>
        </p:nvSpPr>
        <p:spPr>
          <a:xfrm>
            <a:off x="731520" y="6537960"/>
            <a:ext cx="10728655" cy="274320"/>
          </a:xfrm>
          <a:prstGeom prst="rect">
            <a:avLst/>
          </a:prstGeom>
          <a:noFill/>
        </p:spPr>
        <p:txBody>
          <a:bodyPr wrap="none">
            <a:spAutoFit/>
          </a:bodyPr>
          <a:lstStyle/>
          <a:p>
            <a:pPr>
              <a:defRPr sz="850">
                <a:solidFill>
                  <a:srgbClr val="64748B"/>
                </a:solidFill>
              </a:defRPr>
            </a:pPr>
            <a:r>
              <a:t>Ghidora Transport | Online Booking Transport Platform | Amit Kumar Sahu (2526002003) &amp; Raag Patel (2526002048) | Guide: Ms. Divya Jaiswal</a:t>
            </a:r>
          </a:p>
        </p:txBody>
      </p:sp>
      <p:sp>
        <p:nvSpPr>
          <p:cNvPr id="9" name="Rounded Rectangle 8"/>
          <p:cNvSpPr/>
          <p:nvPr/>
        </p:nvSpPr>
        <p:spPr>
          <a:xfrm>
            <a:off x="731520" y="1463040"/>
            <a:ext cx="52120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463040"/>
            <a:ext cx="5212080" cy="10972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691640"/>
            <a:ext cx="4754880" cy="4297680"/>
          </a:xfrm>
          <a:prstGeom prst="rect">
            <a:avLst/>
          </a:prstGeom>
          <a:noFill/>
        </p:spPr>
        <p:txBody>
          <a:bodyPr wrap="square">
            <a:spAutoFit/>
          </a:bodyPr>
          <a:lstStyle/>
          <a:p>
            <a:pPr>
              <a:defRPr sz="1300" b="1">
                <a:solidFill>
                  <a:srgbClr val="1E3A8A"/>
                </a:solidFill>
              </a:defRPr>
            </a:pPr>
            <a:r>
              <a:t>HARDWARE REQUIREMENTS (SYNOPSIS TABLE)</a:t>
            </a:r>
          </a:p>
          <a:p>
            <a:pPr>
              <a:spcBef>
                <a:spcPts val="800"/>
              </a:spcBef>
              <a:defRPr sz="1100" b="1">
                <a:solidFill>
                  <a:srgbClr val="2563EB"/>
                </a:solidFill>
              </a:defRPr>
            </a:pPr>
            <a:r>
              <a:t>💻 Processor:</a:t>
            </a:r>
          </a:p>
          <a:p>
            <a:pPr>
              <a:spcBef>
                <a:spcPts val="100"/>
              </a:spcBef>
              <a:defRPr sz="1000">
                <a:solidFill>
                  <a:srgbClr val="0F172A"/>
                </a:solidFill>
              </a:defRPr>
            </a:pPr>
            <a:r>
              <a:t>    Requirement: Intel Core i3 or equivalent (Min 2.0 GHz)</a:t>
            </a:r>
          </a:p>
          <a:p>
            <a:pPr>
              <a:spcBef>
                <a:spcPts val="800"/>
              </a:spcBef>
              <a:defRPr sz="1100" b="1">
                <a:solidFill>
                  <a:srgbClr val="2563EB"/>
                </a:solidFill>
              </a:defRPr>
            </a:pPr>
            <a:r>
              <a:t>💻 RAM:</a:t>
            </a:r>
          </a:p>
          <a:p>
            <a:pPr>
              <a:spcBef>
                <a:spcPts val="100"/>
              </a:spcBef>
              <a:defRPr sz="1000">
                <a:solidFill>
                  <a:srgbClr val="0F172A"/>
                </a:solidFill>
              </a:defRPr>
            </a:pPr>
            <a:r>
              <a:t>    Requirement: 8 GB</a:t>
            </a:r>
          </a:p>
          <a:p>
            <a:pPr>
              <a:spcBef>
                <a:spcPts val="800"/>
              </a:spcBef>
              <a:defRPr sz="1100" b="1">
                <a:solidFill>
                  <a:srgbClr val="2563EB"/>
                </a:solidFill>
              </a:defRPr>
            </a:pPr>
            <a:r>
              <a:t>💻 Storage:</a:t>
            </a:r>
          </a:p>
          <a:p>
            <a:pPr>
              <a:spcBef>
                <a:spcPts val="100"/>
              </a:spcBef>
              <a:defRPr sz="1000">
                <a:solidFill>
                  <a:srgbClr val="0F172A"/>
                </a:solidFill>
              </a:defRPr>
            </a:pPr>
            <a:r>
              <a:t>    Requirement: 20 GB free space (SSD recommended)</a:t>
            </a:r>
          </a:p>
          <a:p>
            <a:pPr>
              <a:spcBef>
                <a:spcPts val="800"/>
              </a:spcBef>
              <a:defRPr sz="1100" b="1">
                <a:solidFill>
                  <a:srgbClr val="2563EB"/>
                </a:solidFill>
              </a:defRPr>
            </a:pPr>
            <a:r>
              <a:t>💻 Operating System:</a:t>
            </a:r>
          </a:p>
          <a:p>
            <a:pPr>
              <a:spcBef>
                <a:spcPts val="100"/>
              </a:spcBef>
              <a:defRPr sz="1000">
                <a:solidFill>
                  <a:srgbClr val="0F172A"/>
                </a:solidFill>
              </a:defRPr>
            </a:pPr>
            <a:r>
              <a:t>    Requirement: Windows 10 / Windows 11</a:t>
            </a:r>
          </a:p>
          <a:p>
            <a:pPr>
              <a:spcBef>
                <a:spcPts val="800"/>
              </a:spcBef>
              <a:defRPr sz="1100" b="1">
                <a:solidFill>
                  <a:srgbClr val="2563EB"/>
                </a:solidFill>
              </a:defRPr>
            </a:pPr>
            <a:r>
              <a:t>💻 Display / Resolution:</a:t>
            </a:r>
          </a:p>
          <a:p>
            <a:pPr>
              <a:spcBef>
                <a:spcPts val="100"/>
              </a:spcBef>
              <a:defRPr sz="1000">
                <a:solidFill>
                  <a:srgbClr val="0F172A"/>
                </a:solidFill>
              </a:defRPr>
            </a:pPr>
            <a:r>
              <a:t>    Requirement: Standard 1366 x 768 or 1920 x 1080 Full HD</a:t>
            </a:r>
          </a:p>
          <a:p>
            <a:pPr>
              <a:spcBef>
                <a:spcPts val="800"/>
              </a:spcBef>
              <a:defRPr sz="1100" b="1">
                <a:solidFill>
                  <a:srgbClr val="2563EB"/>
                </a:solidFill>
              </a:defRPr>
            </a:pPr>
            <a:r>
              <a:t>💻 Internet Connectivity:</a:t>
            </a:r>
          </a:p>
          <a:p>
            <a:pPr>
              <a:spcBef>
                <a:spcPts val="100"/>
              </a:spcBef>
              <a:defRPr sz="1000">
                <a:solidFill>
                  <a:srgbClr val="0F172A"/>
                </a:solidFill>
              </a:defRPr>
            </a:pPr>
            <a:r>
              <a:t>    Requirement: Broadband / 4G cellular data connection</a:t>
            </a:r>
          </a:p>
        </p:txBody>
      </p:sp>
      <p:sp>
        <p:nvSpPr>
          <p:cNvPr id="12" name="Rounded Rectangle 11"/>
          <p:cNvSpPr/>
          <p:nvPr/>
        </p:nvSpPr>
        <p:spPr>
          <a:xfrm>
            <a:off x="6217920" y="1463040"/>
            <a:ext cx="52120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463040"/>
            <a:ext cx="5212080" cy="10972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1691640"/>
            <a:ext cx="4754880" cy="4297680"/>
          </a:xfrm>
          <a:prstGeom prst="rect">
            <a:avLst/>
          </a:prstGeom>
          <a:noFill/>
        </p:spPr>
        <p:txBody>
          <a:bodyPr wrap="square">
            <a:spAutoFit/>
          </a:bodyPr>
          <a:lstStyle/>
          <a:p>
            <a:pPr>
              <a:defRPr sz="1300" b="1">
                <a:solidFill>
                  <a:srgbClr val="D97706"/>
                </a:solidFill>
              </a:defRPr>
            </a:pPr>
            <a:r>
              <a:t>SOFTWARE REQUIREMENTS (SYNOPSIS TABLE)</a:t>
            </a:r>
          </a:p>
          <a:p>
            <a:pPr>
              <a:spcBef>
                <a:spcPts val="400"/>
              </a:spcBef>
              <a:defRPr sz="950">
                <a:solidFill>
                  <a:srgbClr val="0F172A"/>
                </a:solidFill>
              </a:defRPr>
            </a:pPr>
            <a:r>
              <a:t>• Python: Backend programming</a:t>
            </a:r>
          </a:p>
          <a:p>
            <a:pPr>
              <a:spcBef>
                <a:spcPts val="400"/>
              </a:spcBef>
              <a:defRPr sz="950">
                <a:solidFill>
                  <a:srgbClr val="0F172A"/>
                </a:solidFill>
              </a:defRPr>
            </a:pPr>
            <a:r>
              <a:t>• Django: Web development framework</a:t>
            </a:r>
          </a:p>
          <a:p>
            <a:pPr>
              <a:spcBef>
                <a:spcPts val="400"/>
              </a:spcBef>
              <a:defRPr sz="950">
                <a:solidFill>
                  <a:srgbClr val="0F172A"/>
                </a:solidFill>
              </a:defRPr>
            </a:pPr>
            <a:r>
              <a:t>• HTML5: Creating webpage structure</a:t>
            </a:r>
          </a:p>
          <a:p>
            <a:pPr>
              <a:spcBef>
                <a:spcPts val="400"/>
              </a:spcBef>
              <a:defRPr sz="950">
                <a:solidFill>
                  <a:srgbClr val="0F172A"/>
                </a:solidFill>
              </a:defRPr>
            </a:pPr>
            <a:r>
              <a:t>• CSS3: Website design and styling</a:t>
            </a:r>
          </a:p>
          <a:p>
            <a:pPr>
              <a:spcBef>
                <a:spcPts val="400"/>
              </a:spcBef>
              <a:defRPr sz="950">
                <a:solidFill>
                  <a:srgbClr val="0F172A"/>
                </a:solidFill>
              </a:defRPr>
            </a:pPr>
            <a:r>
              <a:t>• JavaScript: Adding interactive features</a:t>
            </a:r>
          </a:p>
          <a:p>
            <a:pPr>
              <a:spcBef>
                <a:spcPts val="400"/>
              </a:spcBef>
              <a:defRPr sz="950">
                <a:solidFill>
                  <a:srgbClr val="0F172A"/>
                </a:solidFill>
              </a:defRPr>
            </a:pPr>
            <a:r>
              <a:t>• SQLite: Storing booking data</a:t>
            </a:r>
          </a:p>
          <a:p>
            <a:pPr>
              <a:spcBef>
                <a:spcPts val="400"/>
              </a:spcBef>
              <a:defRPr sz="950">
                <a:solidFill>
                  <a:srgbClr val="0F172A"/>
                </a:solidFill>
              </a:defRPr>
            </a:pPr>
            <a:r>
              <a:t>• Visual Studio Code: Writing and managing code</a:t>
            </a:r>
          </a:p>
          <a:p>
            <a:pPr>
              <a:spcBef>
                <a:spcPts val="400"/>
              </a:spcBef>
              <a:defRPr sz="950">
                <a:solidFill>
                  <a:srgbClr val="0F172A"/>
                </a:solidFill>
              </a:defRPr>
            </a:pPr>
            <a:r>
              <a:t>• Google Chrome: Website testing</a:t>
            </a:r>
          </a:p>
          <a:p>
            <a:pPr>
              <a:spcBef>
                <a:spcPts val="400"/>
              </a:spcBef>
              <a:defRPr sz="950">
                <a:solidFill>
                  <a:srgbClr val="0F172A"/>
                </a:solidFill>
              </a:defRPr>
            </a:pPr>
            <a:r>
              <a:t>• Git / GitHub: Code storage and version control</a:t>
            </a:r>
          </a:p>
          <a:p>
            <a:pPr>
              <a:spcBef>
                <a:spcPts val="400"/>
              </a:spcBef>
              <a:defRPr sz="950">
                <a:solidFill>
                  <a:srgbClr val="0F172A"/>
                </a:solidFill>
              </a:defRPr>
            </a:pPr>
            <a:r>
              <a:t>• Render: Online cloud deployment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102412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8229600" cy="274320"/>
          </a:xfrm>
          <a:prstGeom prst="rect">
            <a:avLst/>
          </a:prstGeom>
          <a:noFill/>
        </p:spPr>
        <p:txBody>
          <a:bodyPr wrap="square">
            <a:spAutoFit/>
          </a:bodyPr>
          <a:lstStyle/>
          <a:p>
            <a:pPr>
              <a:defRPr sz="1000" b="1">
                <a:solidFill>
                  <a:srgbClr val="D97706"/>
                </a:solidFill>
              </a:defRPr>
            </a:pPr>
            <a:r>
              <a:t>SECTION 3: SYSTEM DESIGN</a:t>
            </a:r>
          </a:p>
        </p:txBody>
      </p:sp>
      <p:sp>
        <p:nvSpPr>
          <p:cNvPr id="6" name="TextBox 5"/>
          <p:cNvSpPr txBox="1"/>
          <p:nvPr/>
        </p:nvSpPr>
        <p:spPr>
          <a:xfrm>
            <a:off x="731520" y="438912"/>
            <a:ext cx="8686800" cy="594360"/>
          </a:xfrm>
          <a:prstGeom prst="rect">
            <a:avLst/>
          </a:prstGeom>
          <a:noFill/>
        </p:spPr>
        <p:txBody>
          <a:bodyPr wrap="square">
            <a:spAutoFit/>
          </a:bodyPr>
          <a:lstStyle/>
          <a:p>
            <a:pPr>
              <a:defRPr sz="2100" b="1">
                <a:solidFill>
                  <a:srgbClr val="FFFFFF"/>
                </a:solidFill>
              </a:defRPr>
            </a:pPr>
            <a:r>
              <a:t>Form Design &amp; User Interface Architecture</a:t>
            </a:r>
          </a:p>
        </p:txBody>
      </p:sp>
      <p:sp>
        <p:nvSpPr>
          <p:cNvPr id="7" name="TextBox 6"/>
          <p:cNvSpPr txBox="1"/>
          <p:nvPr/>
        </p:nvSpPr>
        <p:spPr>
          <a:xfrm>
            <a:off x="9144000" y="292608"/>
            <a:ext cx="2377440" cy="594360"/>
          </a:xfrm>
          <a:prstGeom prst="rect">
            <a:avLst/>
          </a:prstGeom>
          <a:noFill/>
        </p:spPr>
        <p:txBody>
          <a:bodyPr wrap="none">
            <a:spAutoFit/>
          </a:bodyPr>
          <a:lstStyle/>
          <a:p>
            <a:pPr algn="r">
              <a:defRPr sz="1050" b="1">
                <a:solidFill>
                  <a:srgbClr val="94A3B8"/>
                </a:solidFill>
              </a:defRPr>
            </a:pPr>
            <a:r>
              <a:t>SSPU BHILAI</a:t>
            </a:r>
            <a:br/>
            <a:r>
              <a:t>MCA DEPARTMENT</a:t>
            </a:r>
          </a:p>
        </p:txBody>
      </p:sp>
      <p:sp>
        <p:nvSpPr>
          <p:cNvPr id="8" name="TextBox 7"/>
          <p:cNvSpPr txBox="1"/>
          <p:nvPr/>
        </p:nvSpPr>
        <p:spPr>
          <a:xfrm>
            <a:off x="731520" y="6537960"/>
            <a:ext cx="10728655" cy="274320"/>
          </a:xfrm>
          <a:prstGeom prst="rect">
            <a:avLst/>
          </a:prstGeom>
          <a:noFill/>
        </p:spPr>
        <p:txBody>
          <a:bodyPr wrap="none">
            <a:spAutoFit/>
          </a:bodyPr>
          <a:lstStyle/>
          <a:p>
            <a:pPr>
              <a:defRPr sz="850">
                <a:solidFill>
                  <a:srgbClr val="64748B"/>
                </a:solidFill>
              </a:defRPr>
            </a:pPr>
            <a:r>
              <a:t>Ghidora Transport | Online Booking Transport Platform | Amit Kumar Sahu (2526002003) &amp; Raag Patel (2526002048) | Guide: Ms. Divya Jaiswal</a:t>
            </a:r>
          </a:p>
        </p:txBody>
      </p:sp>
      <p:sp>
        <p:nvSpPr>
          <p:cNvPr id="9" name="Rounded Rectangle 8"/>
          <p:cNvSpPr/>
          <p:nvPr/>
        </p:nvSpPr>
        <p:spPr>
          <a:xfrm>
            <a:off x="731520" y="1463040"/>
            <a:ext cx="521208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463040"/>
            <a:ext cx="5212080" cy="3200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1. ONLINE TRANSPORT BOOKING FORM</a:t>
            </a:r>
          </a:p>
        </p:txBody>
      </p:sp>
      <p:sp>
        <p:nvSpPr>
          <p:cNvPr id="11" name="TextBox 10"/>
          <p:cNvSpPr txBox="1"/>
          <p:nvPr/>
        </p:nvSpPr>
        <p:spPr>
          <a:xfrm>
            <a:off x="914400" y="1828800"/>
            <a:ext cx="4846320" cy="1737360"/>
          </a:xfrm>
          <a:prstGeom prst="rect">
            <a:avLst/>
          </a:prstGeom>
          <a:noFill/>
        </p:spPr>
        <p:txBody>
          <a:bodyPr wrap="square">
            <a:spAutoFit/>
          </a:bodyPr>
          <a:lstStyle/>
          <a:p>
            <a:pPr>
              <a:defRPr sz="950">
                <a:solidFill>
                  <a:srgbClr val="0F172A"/>
                </a:solidFill>
              </a:defRPr>
            </a:pPr>
            <a:r>
              <a:t>• Customer Name: Full name input field for booking identification</a:t>
            </a:r>
          </a:p>
          <a:p>
            <a:pPr>
              <a:spcBef>
                <a:spcPts val="200"/>
              </a:spcBef>
              <a:defRPr sz="950">
                <a:solidFill>
                  <a:srgbClr val="0F172A"/>
                </a:solidFill>
              </a:defRPr>
            </a:pPr>
            <a:r>
              <a:t>• Contact Details: 10-digit mobile number &amp; optional email</a:t>
            </a:r>
          </a:p>
          <a:p>
            <a:pPr>
              <a:spcBef>
                <a:spcPts val="200"/>
              </a:spcBef>
              <a:defRPr sz="950">
                <a:solidFill>
                  <a:srgbClr val="0F172A"/>
                </a:solidFill>
              </a:defRPr>
            </a:pPr>
            <a:r>
              <a:t>• Pickup &amp; Drop Locations: Origin &amp; destination address inputs with route matching</a:t>
            </a:r>
          </a:p>
          <a:p>
            <a:pPr>
              <a:spcBef>
                <a:spcPts val="200"/>
              </a:spcBef>
              <a:defRPr sz="950">
                <a:solidFill>
                  <a:srgbClr val="0F172A"/>
                </a:solidFill>
              </a:defRPr>
            </a:pPr>
            <a:r>
              <a:t>• Booking Date &amp; Time: HTML5 calendar &amp; time picker for scheduling</a:t>
            </a:r>
          </a:p>
          <a:p>
            <a:pPr>
              <a:spcBef>
                <a:spcPts val="200"/>
              </a:spcBef>
              <a:defRPr sz="950">
                <a:solidFill>
                  <a:srgbClr val="0F172A"/>
                </a:solidFill>
              </a:defRPr>
            </a:pPr>
            <a:r>
              <a:t>• Vehicle Type Selection: Dropdown/Cards: Bolero, Pickup, Tata Magic, 407 Truck</a:t>
            </a:r>
          </a:p>
          <a:p>
            <a:pPr>
              <a:spcBef>
                <a:spcPts val="200"/>
              </a:spcBef>
              <a:defRPr sz="950">
                <a:solidFill>
                  <a:srgbClr val="0F172A"/>
                </a:solidFill>
              </a:defRPr>
            </a:pPr>
            <a:r>
              <a:t>• Fare Display &amp; Submit: Auto-calculated fare display and instant confirmation button</a:t>
            </a:r>
          </a:p>
        </p:txBody>
      </p:sp>
      <p:sp>
        <p:nvSpPr>
          <p:cNvPr id="12" name="Rounded Rectangle 11"/>
          <p:cNvSpPr/>
          <p:nvPr/>
        </p:nvSpPr>
        <p:spPr>
          <a:xfrm>
            <a:off x="6217920" y="1463040"/>
            <a:ext cx="521208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463040"/>
            <a:ext cx="5212080" cy="3200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2. PICKUPWALA CARGO DISPATCH FORM</a:t>
            </a:r>
          </a:p>
        </p:txBody>
      </p:sp>
      <p:sp>
        <p:nvSpPr>
          <p:cNvPr id="14" name="TextBox 13"/>
          <p:cNvSpPr txBox="1"/>
          <p:nvPr/>
        </p:nvSpPr>
        <p:spPr>
          <a:xfrm>
            <a:off x="6400800" y="1828800"/>
            <a:ext cx="4846320" cy="1737360"/>
          </a:xfrm>
          <a:prstGeom prst="rect">
            <a:avLst/>
          </a:prstGeom>
          <a:noFill/>
        </p:spPr>
        <p:txBody>
          <a:bodyPr wrap="square">
            <a:spAutoFit/>
          </a:bodyPr>
          <a:lstStyle/>
          <a:p>
            <a:pPr>
              <a:defRPr sz="950">
                <a:solidFill>
                  <a:srgbClr val="0F172A"/>
                </a:solidFill>
              </a:defRPr>
            </a:pPr>
            <a:r>
              <a:t>• Cargo Description: Goods category: Furniture, Electronics, Agricultural produce</a:t>
            </a:r>
          </a:p>
          <a:p>
            <a:pPr>
              <a:spcBef>
                <a:spcPts val="200"/>
              </a:spcBef>
              <a:defRPr sz="950">
                <a:solidFill>
                  <a:srgbClr val="0F172A"/>
                </a:solidFill>
              </a:defRPr>
            </a:pPr>
            <a:r>
              <a:t>• Weight Selection: Payload options: Below 500kg, 1 Ton, 1.5 Ton, 2+ Ton</a:t>
            </a:r>
          </a:p>
          <a:p>
            <a:pPr>
              <a:spcBef>
                <a:spcPts val="200"/>
              </a:spcBef>
              <a:defRPr sz="950">
                <a:solidFill>
                  <a:srgbClr val="0F172A"/>
                </a:solidFill>
              </a:defRPr>
            </a:pPr>
            <a:r>
              <a:t>• Delivery Urgency: Standard dispatch vs Priority same-day dispatch</a:t>
            </a:r>
          </a:p>
          <a:p>
            <a:pPr>
              <a:spcBef>
                <a:spcPts val="200"/>
              </a:spcBef>
              <a:defRPr sz="950">
                <a:solidFill>
                  <a:srgbClr val="0F172A"/>
                </a:solidFill>
              </a:defRPr>
            </a:pPr>
            <a:r>
              <a:t>• Receiver Contact: Recipient name &amp; delivery contact phone</a:t>
            </a:r>
          </a:p>
          <a:p>
            <a:pPr>
              <a:spcBef>
                <a:spcPts val="200"/>
              </a:spcBef>
              <a:defRPr sz="950">
                <a:solidFill>
                  <a:srgbClr val="0F172A"/>
                </a:solidFill>
              </a:defRPr>
            </a:pPr>
            <a:r>
              <a:t>• Submit Action: Instant dispatch notification to nearest available driver</a:t>
            </a:r>
          </a:p>
        </p:txBody>
      </p:sp>
      <p:sp>
        <p:nvSpPr>
          <p:cNvPr id="15" name="Rounded Rectangle 14"/>
          <p:cNvSpPr/>
          <p:nvPr/>
        </p:nvSpPr>
        <p:spPr>
          <a:xfrm>
            <a:off x="731520" y="3931920"/>
            <a:ext cx="521208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3931920"/>
            <a:ext cx="5212080" cy="3200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3. QUOTATION REQUEST FORM</a:t>
            </a:r>
          </a:p>
        </p:txBody>
      </p:sp>
      <p:sp>
        <p:nvSpPr>
          <p:cNvPr id="17" name="TextBox 16"/>
          <p:cNvSpPr txBox="1"/>
          <p:nvPr/>
        </p:nvSpPr>
        <p:spPr>
          <a:xfrm>
            <a:off x="914400" y="4297680"/>
            <a:ext cx="4846320" cy="1737360"/>
          </a:xfrm>
          <a:prstGeom prst="rect">
            <a:avLst/>
          </a:prstGeom>
          <a:noFill/>
        </p:spPr>
        <p:txBody>
          <a:bodyPr wrap="square">
            <a:spAutoFit/>
          </a:bodyPr>
          <a:lstStyle/>
          <a:p>
            <a:pPr>
              <a:defRPr sz="950">
                <a:solidFill>
                  <a:srgbClr val="0F172A"/>
                </a:solidFill>
              </a:defRPr>
            </a:pPr>
            <a:r>
              <a:t>• Client / Event Type: Wedding logistics, Corporate shifting, Bulk freight</a:t>
            </a:r>
          </a:p>
          <a:p>
            <a:pPr>
              <a:spcBef>
                <a:spcPts val="200"/>
              </a:spcBef>
              <a:defRPr sz="950">
                <a:solidFill>
                  <a:srgbClr val="0F172A"/>
                </a:solidFill>
              </a:defRPr>
            </a:pPr>
            <a:r>
              <a:t>• Vehicle Fleet Count: Multi-vehicle selection count (e.g. 2 Boleros, 1 Truck)</a:t>
            </a:r>
          </a:p>
          <a:p>
            <a:pPr>
              <a:spcBef>
                <a:spcPts val="200"/>
              </a:spcBef>
              <a:defRPr sz="950">
                <a:solidFill>
                  <a:srgbClr val="0F172A"/>
                </a:solidFill>
              </a:defRPr>
            </a:pPr>
            <a:r>
              <a:t>• Estimated Distance: Round-trip kilometer input with outstation allowance</a:t>
            </a:r>
          </a:p>
          <a:p>
            <a:pPr>
              <a:spcBef>
                <a:spcPts val="200"/>
              </a:spcBef>
              <a:defRPr sz="950">
                <a:solidFill>
                  <a:srgbClr val="0F172A"/>
                </a:solidFill>
              </a:defRPr>
            </a:pPr>
            <a:r>
              <a:t>• Budget &amp; Remarks: Custom notes, specific labor/loading requirements</a:t>
            </a:r>
          </a:p>
          <a:p>
            <a:pPr>
              <a:spcBef>
                <a:spcPts val="200"/>
              </a:spcBef>
              <a:defRPr sz="950">
                <a:solidFill>
                  <a:srgbClr val="0F172A"/>
                </a:solidFill>
              </a:defRPr>
            </a:pPr>
            <a:r>
              <a:t>• Generate Action: Produces branded, verifiable PDF quotation immediately</a:t>
            </a:r>
          </a:p>
        </p:txBody>
      </p:sp>
      <p:sp>
        <p:nvSpPr>
          <p:cNvPr id="18" name="Rounded Rectangle 17"/>
          <p:cNvSpPr/>
          <p:nvPr/>
        </p:nvSpPr>
        <p:spPr>
          <a:xfrm>
            <a:off x="6217920" y="3931920"/>
            <a:ext cx="521208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3931920"/>
            <a:ext cx="5212080" cy="3200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4. EXPENSE &amp; TOLL LOG FORM (ADMIN/DRIVER)</a:t>
            </a:r>
          </a:p>
        </p:txBody>
      </p:sp>
      <p:sp>
        <p:nvSpPr>
          <p:cNvPr id="20" name="TextBox 19"/>
          <p:cNvSpPr txBox="1"/>
          <p:nvPr/>
        </p:nvSpPr>
        <p:spPr>
          <a:xfrm>
            <a:off x="6400800" y="4297680"/>
            <a:ext cx="4846320" cy="1737360"/>
          </a:xfrm>
          <a:prstGeom prst="rect">
            <a:avLst/>
          </a:prstGeom>
          <a:noFill/>
        </p:spPr>
        <p:txBody>
          <a:bodyPr wrap="square">
            <a:spAutoFit/>
          </a:bodyPr>
          <a:lstStyle/>
          <a:p>
            <a:pPr>
              <a:defRPr sz="950">
                <a:solidFill>
                  <a:srgbClr val="0F172A"/>
                </a:solidFill>
              </a:defRPr>
            </a:pPr>
            <a:r>
              <a:t>• Vehicle Selector: Dropdown linking to registered fleet vehicles</a:t>
            </a:r>
          </a:p>
          <a:p>
            <a:pPr>
              <a:spcBef>
                <a:spcPts val="200"/>
              </a:spcBef>
              <a:defRPr sz="950">
                <a:solidFill>
                  <a:srgbClr val="0F172A"/>
                </a:solidFill>
              </a:defRPr>
            </a:pPr>
            <a:r>
              <a:t>• Expense Category: Diesel / Fuel, Maintenance, Toll Plaza, Parking</a:t>
            </a:r>
          </a:p>
          <a:p>
            <a:pPr>
              <a:spcBef>
                <a:spcPts val="200"/>
              </a:spcBef>
              <a:defRPr sz="950">
                <a:solidFill>
                  <a:srgbClr val="0F172A"/>
                </a:solidFill>
              </a:defRPr>
            </a:pPr>
            <a:r>
              <a:t>• Amount &amp; Date: Rupee amount with date incurred</a:t>
            </a:r>
          </a:p>
          <a:p>
            <a:pPr>
              <a:spcBef>
                <a:spcPts val="200"/>
              </a:spcBef>
              <a:defRPr sz="950">
                <a:solidFill>
                  <a:srgbClr val="0F172A"/>
                </a:solidFill>
              </a:defRPr>
            </a:pPr>
            <a:r>
              <a:t>• Receipt Image Upload: Photo upload of physical bill/toll slip for audit</a:t>
            </a:r>
          </a:p>
          <a:p>
            <a:pPr>
              <a:spcBef>
                <a:spcPts val="200"/>
              </a:spcBef>
              <a:defRPr sz="950">
                <a:solidFill>
                  <a:srgbClr val="0F172A"/>
                </a:solidFill>
              </a:defRPr>
            </a:pPr>
            <a:r>
              <a:t>• Audit Submit: Updates vehicle profit &amp; loss accounts instantly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102412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8229600" cy="274320"/>
          </a:xfrm>
          <a:prstGeom prst="rect">
            <a:avLst/>
          </a:prstGeom>
          <a:noFill/>
        </p:spPr>
        <p:txBody>
          <a:bodyPr wrap="square">
            <a:spAutoFit/>
          </a:bodyPr>
          <a:lstStyle/>
          <a:p>
            <a:pPr>
              <a:defRPr sz="1000" b="1">
                <a:solidFill>
                  <a:srgbClr val="D97706"/>
                </a:solidFill>
              </a:defRPr>
            </a:pPr>
            <a:r>
              <a:t>SECTION 3: SYSTEM DESIGN</a:t>
            </a:r>
          </a:p>
        </p:txBody>
      </p:sp>
      <p:sp>
        <p:nvSpPr>
          <p:cNvPr id="6" name="TextBox 5"/>
          <p:cNvSpPr txBox="1"/>
          <p:nvPr/>
        </p:nvSpPr>
        <p:spPr>
          <a:xfrm>
            <a:off x="731520" y="438912"/>
            <a:ext cx="8686800" cy="594360"/>
          </a:xfrm>
          <a:prstGeom prst="rect">
            <a:avLst/>
          </a:prstGeom>
          <a:noFill/>
        </p:spPr>
        <p:txBody>
          <a:bodyPr wrap="square">
            <a:spAutoFit/>
          </a:bodyPr>
          <a:lstStyle/>
          <a:p>
            <a:pPr>
              <a:defRPr sz="2100" b="1">
                <a:solidFill>
                  <a:srgbClr val="FFFFFF"/>
                </a:solidFill>
              </a:defRPr>
            </a:pPr>
            <a:r>
              <a:t>Database Design &amp; SQLite Tables Schema</a:t>
            </a:r>
          </a:p>
        </p:txBody>
      </p:sp>
      <p:sp>
        <p:nvSpPr>
          <p:cNvPr id="7" name="TextBox 6"/>
          <p:cNvSpPr txBox="1"/>
          <p:nvPr/>
        </p:nvSpPr>
        <p:spPr>
          <a:xfrm>
            <a:off x="9144000" y="292608"/>
            <a:ext cx="2377440" cy="594360"/>
          </a:xfrm>
          <a:prstGeom prst="rect">
            <a:avLst/>
          </a:prstGeom>
          <a:noFill/>
        </p:spPr>
        <p:txBody>
          <a:bodyPr wrap="none">
            <a:spAutoFit/>
          </a:bodyPr>
          <a:lstStyle/>
          <a:p>
            <a:pPr algn="r">
              <a:defRPr sz="1050" b="1">
                <a:solidFill>
                  <a:srgbClr val="94A3B8"/>
                </a:solidFill>
              </a:defRPr>
            </a:pPr>
            <a:r>
              <a:t>SSPU BHILAI</a:t>
            </a:r>
            <a:br/>
            <a:r>
              <a:t>MCA DEPARTMENT</a:t>
            </a:r>
          </a:p>
        </p:txBody>
      </p:sp>
      <p:sp>
        <p:nvSpPr>
          <p:cNvPr id="8" name="TextBox 7"/>
          <p:cNvSpPr txBox="1"/>
          <p:nvPr/>
        </p:nvSpPr>
        <p:spPr>
          <a:xfrm>
            <a:off x="731520" y="6537960"/>
            <a:ext cx="10728655" cy="274320"/>
          </a:xfrm>
          <a:prstGeom prst="rect">
            <a:avLst/>
          </a:prstGeom>
          <a:noFill/>
        </p:spPr>
        <p:txBody>
          <a:bodyPr wrap="none">
            <a:spAutoFit/>
          </a:bodyPr>
          <a:lstStyle/>
          <a:p>
            <a:pPr>
              <a:defRPr sz="850">
                <a:solidFill>
                  <a:srgbClr val="64748B"/>
                </a:solidFill>
              </a:defRPr>
            </a:pPr>
            <a:r>
              <a:t>Ghidora Transport | Online Booking Transport Platform | Amit Kumar Sahu (2526002003) &amp; Raag Patel (2526002048) | Guide: Ms. Divya Jaiswal</a:t>
            </a:r>
          </a:p>
        </p:txBody>
      </p:sp>
      <p:sp>
        <p:nvSpPr>
          <p:cNvPr id="9" name="Rounded Rectangle 8"/>
          <p:cNvSpPr/>
          <p:nvPr/>
        </p:nvSpPr>
        <p:spPr>
          <a:xfrm>
            <a:off x="731520" y="1463040"/>
            <a:ext cx="24688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463040"/>
            <a:ext cx="2468880" cy="4114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tbl_Booking (Main Bookings)</a:t>
            </a:r>
          </a:p>
        </p:txBody>
      </p:sp>
      <p:sp>
        <p:nvSpPr>
          <p:cNvPr id="11" name="TextBox 10"/>
          <p:cNvSpPr txBox="1"/>
          <p:nvPr/>
        </p:nvSpPr>
        <p:spPr>
          <a:xfrm>
            <a:off x="822960" y="1920240"/>
            <a:ext cx="2286000" cy="4114800"/>
          </a:xfrm>
          <a:prstGeom prst="rect">
            <a:avLst/>
          </a:prstGeom>
          <a:noFill/>
        </p:spPr>
        <p:txBody>
          <a:bodyPr wrap="square">
            <a:spAutoFit/>
          </a:bodyPr>
          <a:lstStyle/>
          <a:p>
            <a:pPr>
              <a:defRPr sz="850" b="1">
                <a:solidFill>
                  <a:srgbClr val="1E3A8A"/>
                </a:solidFill>
              </a:defRPr>
            </a:pPr>
            <a:r>
              <a:t>ATTRIBUTES &amp; DATA TYPES:</a:t>
            </a:r>
          </a:p>
          <a:p>
            <a:pPr>
              <a:spcBef>
                <a:spcPts val="200"/>
              </a:spcBef>
              <a:defRPr sz="900">
                <a:solidFill>
                  <a:srgbClr val="0F172A"/>
                </a:solidFill>
              </a:defRPr>
            </a:pPr>
            <a:r>
              <a:t>• booking_id (VARCHAR[20], PK)</a:t>
            </a:r>
          </a:p>
          <a:p>
            <a:pPr>
              <a:spcBef>
                <a:spcPts val="200"/>
              </a:spcBef>
              <a:defRPr sz="900">
                <a:solidFill>
                  <a:srgbClr val="0F172A"/>
                </a:solidFill>
              </a:defRPr>
            </a:pPr>
            <a:r>
              <a:t>• customer_name (VARCHAR[100])</a:t>
            </a:r>
          </a:p>
          <a:p>
            <a:pPr>
              <a:spcBef>
                <a:spcPts val="200"/>
              </a:spcBef>
              <a:defRPr sz="900">
                <a:solidFill>
                  <a:srgbClr val="0F172A"/>
                </a:solidFill>
              </a:defRPr>
            </a:pPr>
            <a:r>
              <a:t>• phone (VARCHAR[15])</a:t>
            </a:r>
          </a:p>
          <a:p>
            <a:pPr>
              <a:spcBef>
                <a:spcPts val="200"/>
              </a:spcBef>
              <a:defRPr sz="900">
                <a:solidFill>
                  <a:srgbClr val="0F172A"/>
                </a:solidFill>
              </a:defRPr>
            </a:pPr>
            <a:r>
              <a:t>• pickup_location (TEXT)</a:t>
            </a:r>
          </a:p>
          <a:p>
            <a:pPr>
              <a:spcBef>
                <a:spcPts val="200"/>
              </a:spcBef>
              <a:defRPr sz="900">
                <a:solidFill>
                  <a:srgbClr val="0F172A"/>
                </a:solidFill>
              </a:defRPr>
            </a:pPr>
            <a:r>
              <a:t>• drop_location (TEXT)</a:t>
            </a:r>
          </a:p>
          <a:p>
            <a:pPr>
              <a:spcBef>
                <a:spcPts val="200"/>
              </a:spcBef>
              <a:defRPr sz="900">
                <a:solidFill>
                  <a:srgbClr val="0F172A"/>
                </a:solidFill>
              </a:defRPr>
            </a:pPr>
            <a:r>
              <a:t>• booking_date (DATETIME)</a:t>
            </a:r>
          </a:p>
          <a:p>
            <a:pPr>
              <a:spcBef>
                <a:spcPts val="200"/>
              </a:spcBef>
              <a:defRPr sz="900">
                <a:solidFill>
                  <a:srgbClr val="0F172A"/>
                </a:solidFill>
              </a:defRPr>
            </a:pPr>
            <a:r>
              <a:t>• vehicle_type (VARCHAR[30])</a:t>
            </a:r>
          </a:p>
          <a:p>
            <a:pPr>
              <a:spcBef>
                <a:spcPts val="200"/>
              </a:spcBef>
              <a:defRPr sz="900">
                <a:solidFill>
                  <a:srgbClr val="0F172A"/>
                </a:solidFill>
              </a:defRPr>
            </a:pPr>
            <a:r>
              <a:t>• distance_km (DECIMAL)</a:t>
            </a:r>
          </a:p>
          <a:p>
            <a:pPr>
              <a:spcBef>
                <a:spcPts val="200"/>
              </a:spcBef>
              <a:defRPr sz="900">
                <a:solidFill>
                  <a:srgbClr val="0F172A"/>
                </a:solidFill>
              </a:defRPr>
            </a:pPr>
            <a:r>
              <a:t>• fare_amount (DECIMAL)</a:t>
            </a:r>
          </a:p>
          <a:p>
            <a:pPr>
              <a:spcBef>
                <a:spcPts val="200"/>
              </a:spcBef>
              <a:defRPr sz="900">
                <a:solidFill>
                  <a:srgbClr val="0F172A"/>
                </a:solidFill>
              </a:defRPr>
            </a:pPr>
            <a:r>
              <a:t>• status (Pending/Confirmed/Done)</a:t>
            </a:r>
          </a:p>
        </p:txBody>
      </p:sp>
      <p:sp>
        <p:nvSpPr>
          <p:cNvPr id="12" name="Rounded Rectangle 11"/>
          <p:cNvSpPr/>
          <p:nvPr/>
        </p:nvSpPr>
        <p:spPr>
          <a:xfrm>
            <a:off x="3474720" y="1463040"/>
            <a:ext cx="24688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74720" y="1463040"/>
            <a:ext cx="2468880" cy="4114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tbl_Vehicle (Transport Fleet)</a:t>
            </a:r>
          </a:p>
        </p:txBody>
      </p:sp>
      <p:sp>
        <p:nvSpPr>
          <p:cNvPr id="14" name="TextBox 13"/>
          <p:cNvSpPr txBox="1"/>
          <p:nvPr/>
        </p:nvSpPr>
        <p:spPr>
          <a:xfrm>
            <a:off x="3566160" y="1920240"/>
            <a:ext cx="2286000" cy="4114800"/>
          </a:xfrm>
          <a:prstGeom prst="rect">
            <a:avLst/>
          </a:prstGeom>
          <a:noFill/>
        </p:spPr>
        <p:txBody>
          <a:bodyPr wrap="square">
            <a:spAutoFit/>
          </a:bodyPr>
          <a:lstStyle/>
          <a:p>
            <a:pPr>
              <a:defRPr sz="850" b="1">
                <a:solidFill>
                  <a:srgbClr val="2563EB"/>
                </a:solidFill>
              </a:defRPr>
            </a:pPr>
            <a:r>
              <a:t>ATTRIBUTES &amp; DATA TYPES:</a:t>
            </a:r>
          </a:p>
          <a:p>
            <a:pPr>
              <a:spcBef>
                <a:spcPts val="200"/>
              </a:spcBef>
              <a:defRPr sz="900">
                <a:solidFill>
                  <a:srgbClr val="0F172A"/>
                </a:solidFill>
              </a:defRPr>
            </a:pPr>
            <a:r>
              <a:t>• vehicle_id (INT, PK AUTO_INC)</a:t>
            </a:r>
          </a:p>
          <a:p>
            <a:pPr>
              <a:spcBef>
                <a:spcPts val="200"/>
              </a:spcBef>
              <a:defRPr sz="900">
                <a:solidFill>
                  <a:srgbClr val="0F172A"/>
                </a:solidFill>
              </a:defRPr>
            </a:pPr>
            <a:r>
              <a:t>• vehicle_name (Bolero, Pickup, Magic)</a:t>
            </a:r>
          </a:p>
          <a:p>
            <a:pPr>
              <a:spcBef>
                <a:spcPts val="200"/>
              </a:spcBef>
              <a:defRPr sz="900">
                <a:solidFill>
                  <a:srgbClr val="0F172A"/>
                </a:solidFill>
              </a:defRPr>
            </a:pPr>
            <a:r>
              <a:t>• vehicle_number (VARCHAR[20], UNIQUE)</a:t>
            </a:r>
          </a:p>
          <a:p>
            <a:pPr>
              <a:spcBef>
                <a:spcPts val="200"/>
              </a:spcBef>
              <a:defRPr sz="900">
                <a:solidFill>
                  <a:srgbClr val="0F172A"/>
                </a:solidFill>
              </a:defRPr>
            </a:pPr>
            <a:r>
              <a:t>• tonnage_capacity (FLOAT)</a:t>
            </a:r>
          </a:p>
          <a:p>
            <a:pPr>
              <a:spcBef>
                <a:spcPts val="200"/>
              </a:spcBef>
              <a:defRPr sz="900">
                <a:solidFill>
                  <a:srgbClr val="0F172A"/>
                </a:solidFill>
              </a:defRPr>
            </a:pPr>
            <a:r>
              <a:t>• per_km_rate (DECIMAL)</a:t>
            </a:r>
          </a:p>
          <a:p>
            <a:pPr>
              <a:spcBef>
                <a:spcPts val="200"/>
              </a:spcBef>
              <a:defRPr sz="900">
                <a:solidFill>
                  <a:srgbClr val="0F172A"/>
                </a:solidFill>
              </a:defRPr>
            </a:pPr>
            <a:r>
              <a:t>• is_available (BOOLEAN)</a:t>
            </a:r>
          </a:p>
          <a:p>
            <a:pPr>
              <a:spcBef>
                <a:spcPts val="200"/>
              </a:spcBef>
              <a:defRPr sz="900">
                <a:solidFill>
                  <a:srgbClr val="0F172A"/>
                </a:solidFill>
              </a:defRPr>
            </a:pPr>
            <a:r>
              <a:t>• driver_name (VARCHAR[100])</a:t>
            </a:r>
          </a:p>
          <a:p>
            <a:pPr>
              <a:spcBef>
                <a:spcPts val="200"/>
              </a:spcBef>
              <a:defRPr sz="900">
                <a:solidFill>
                  <a:srgbClr val="0F172A"/>
                </a:solidFill>
              </a:defRPr>
            </a:pPr>
            <a:r>
              <a:t>• driver_phone (VARCHAR[15])</a:t>
            </a:r>
          </a:p>
        </p:txBody>
      </p:sp>
      <p:sp>
        <p:nvSpPr>
          <p:cNvPr id="15" name="Rounded Rectangle 14"/>
          <p:cNvSpPr/>
          <p:nvPr/>
        </p:nvSpPr>
        <p:spPr>
          <a:xfrm>
            <a:off x="6217920" y="1463040"/>
            <a:ext cx="24688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1463040"/>
            <a:ext cx="2468880" cy="4114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tbl_Expense (Accounts &amp; Tolls)</a:t>
            </a:r>
          </a:p>
        </p:txBody>
      </p:sp>
      <p:sp>
        <p:nvSpPr>
          <p:cNvPr id="17" name="TextBox 16"/>
          <p:cNvSpPr txBox="1"/>
          <p:nvPr/>
        </p:nvSpPr>
        <p:spPr>
          <a:xfrm>
            <a:off x="6309360" y="1920240"/>
            <a:ext cx="2286000" cy="4114800"/>
          </a:xfrm>
          <a:prstGeom prst="rect">
            <a:avLst/>
          </a:prstGeom>
          <a:noFill/>
        </p:spPr>
        <p:txBody>
          <a:bodyPr wrap="square">
            <a:spAutoFit/>
          </a:bodyPr>
          <a:lstStyle/>
          <a:p>
            <a:pPr>
              <a:defRPr sz="850" b="1">
                <a:solidFill>
                  <a:srgbClr val="0F172A"/>
                </a:solidFill>
              </a:defRPr>
            </a:pPr>
            <a:r>
              <a:t>ATTRIBUTES &amp; DATA TYPES:</a:t>
            </a:r>
          </a:p>
          <a:p>
            <a:pPr>
              <a:spcBef>
                <a:spcPts val="200"/>
              </a:spcBef>
              <a:defRPr sz="900">
                <a:solidFill>
                  <a:srgbClr val="0F172A"/>
                </a:solidFill>
              </a:defRPr>
            </a:pPr>
            <a:r>
              <a:t>• expense_id (INT, PK AUTO_INC)</a:t>
            </a:r>
          </a:p>
          <a:p>
            <a:pPr>
              <a:spcBef>
                <a:spcPts val="200"/>
              </a:spcBef>
              <a:defRPr sz="900">
                <a:solidFill>
                  <a:srgbClr val="0F172A"/>
                </a:solidFill>
              </a:defRPr>
            </a:pPr>
            <a:r>
              <a:t>• vehicle_id (FK -&gt; tbl_Vehicle)</a:t>
            </a:r>
          </a:p>
          <a:p>
            <a:pPr>
              <a:spcBef>
                <a:spcPts val="200"/>
              </a:spcBef>
              <a:defRPr sz="900">
                <a:solidFill>
                  <a:srgbClr val="0F172A"/>
                </a:solidFill>
              </a:defRPr>
            </a:pPr>
            <a:r>
              <a:t>• category (Fuel/Toll/Maintenance)</a:t>
            </a:r>
          </a:p>
          <a:p>
            <a:pPr>
              <a:spcBef>
                <a:spcPts val="200"/>
              </a:spcBef>
              <a:defRPr sz="900">
                <a:solidFill>
                  <a:srgbClr val="0F172A"/>
                </a:solidFill>
              </a:defRPr>
            </a:pPr>
            <a:r>
              <a:t>• amount (DECIMAL)</a:t>
            </a:r>
          </a:p>
          <a:p>
            <a:pPr>
              <a:spcBef>
                <a:spcPts val="200"/>
              </a:spcBef>
              <a:defRPr sz="900">
                <a:solidFill>
                  <a:srgbClr val="0F172A"/>
                </a:solidFill>
              </a:defRPr>
            </a:pPr>
            <a:r>
              <a:t>• receipt_photo (VARCHAR[255])</a:t>
            </a:r>
          </a:p>
          <a:p>
            <a:pPr>
              <a:spcBef>
                <a:spcPts val="200"/>
              </a:spcBef>
              <a:defRPr sz="900">
                <a:solidFill>
                  <a:srgbClr val="0F172A"/>
                </a:solidFill>
              </a:defRPr>
            </a:pPr>
            <a:r>
              <a:t>• date_incurred (DATE)</a:t>
            </a:r>
          </a:p>
          <a:p>
            <a:pPr>
              <a:spcBef>
                <a:spcPts val="200"/>
              </a:spcBef>
              <a:defRPr sz="900">
                <a:solidFill>
                  <a:srgbClr val="0F172A"/>
                </a:solidFill>
              </a:defRPr>
            </a:pPr>
            <a:r>
              <a:t>• approved_by (VARCHAR[50])</a:t>
            </a:r>
          </a:p>
        </p:txBody>
      </p:sp>
      <p:sp>
        <p:nvSpPr>
          <p:cNvPr id="18" name="Rounded Rectangle 17"/>
          <p:cNvSpPr/>
          <p:nvPr/>
        </p:nvSpPr>
        <p:spPr>
          <a:xfrm>
            <a:off x="8961120" y="1463040"/>
            <a:ext cx="24688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961120" y="1463040"/>
            <a:ext cx="2468880" cy="41148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tbl_Quotation (Event Quotes)</a:t>
            </a:r>
          </a:p>
        </p:txBody>
      </p:sp>
      <p:sp>
        <p:nvSpPr>
          <p:cNvPr id="20" name="TextBox 19"/>
          <p:cNvSpPr txBox="1"/>
          <p:nvPr/>
        </p:nvSpPr>
        <p:spPr>
          <a:xfrm>
            <a:off x="9052560" y="1920240"/>
            <a:ext cx="2286000" cy="4114800"/>
          </a:xfrm>
          <a:prstGeom prst="rect">
            <a:avLst/>
          </a:prstGeom>
          <a:noFill/>
        </p:spPr>
        <p:txBody>
          <a:bodyPr wrap="square">
            <a:spAutoFit/>
          </a:bodyPr>
          <a:lstStyle/>
          <a:p>
            <a:pPr>
              <a:defRPr sz="850" b="1">
                <a:solidFill>
                  <a:srgbClr val="D97706"/>
                </a:solidFill>
              </a:defRPr>
            </a:pPr>
            <a:r>
              <a:t>ATTRIBUTES &amp; DATA TYPES:</a:t>
            </a:r>
          </a:p>
          <a:p>
            <a:pPr>
              <a:spcBef>
                <a:spcPts val="200"/>
              </a:spcBef>
              <a:defRPr sz="900">
                <a:solidFill>
                  <a:srgbClr val="0F172A"/>
                </a:solidFill>
              </a:defRPr>
            </a:pPr>
            <a:r>
              <a:t>• quotation_id (VARCHAR[20], PK)</a:t>
            </a:r>
          </a:p>
          <a:p>
            <a:pPr>
              <a:spcBef>
                <a:spcPts val="200"/>
              </a:spcBef>
              <a:defRPr sz="900">
                <a:solidFill>
                  <a:srgbClr val="0F172A"/>
                </a:solidFill>
              </a:defRPr>
            </a:pPr>
            <a:r>
              <a:t>• client_name (VARCHAR[100])</a:t>
            </a:r>
          </a:p>
          <a:p>
            <a:pPr>
              <a:spcBef>
                <a:spcPts val="200"/>
              </a:spcBef>
              <a:defRPr sz="900">
                <a:solidFill>
                  <a:srgbClr val="0F172A"/>
                </a:solidFill>
              </a:defRPr>
            </a:pPr>
            <a:r>
              <a:t>• phone (VARCHAR[15])</a:t>
            </a:r>
          </a:p>
          <a:p>
            <a:pPr>
              <a:spcBef>
                <a:spcPts val="200"/>
              </a:spcBef>
              <a:defRPr sz="900">
                <a:solidFill>
                  <a:srgbClr val="0F172A"/>
                </a:solidFill>
              </a:defRPr>
            </a:pPr>
            <a:r>
              <a:t>• cargo_details (TEXT)</a:t>
            </a:r>
          </a:p>
          <a:p>
            <a:pPr>
              <a:spcBef>
                <a:spcPts val="200"/>
              </a:spcBef>
              <a:defRPr sz="900">
                <a:solidFill>
                  <a:srgbClr val="0F172A"/>
                </a:solidFill>
              </a:defRPr>
            </a:pPr>
            <a:r>
              <a:t>• quoted_fare (DECIMAL)</a:t>
            </a:r>
          </a:p>
          <a:p>
            <a:pPr>
              <a:spcBef>
                <a:spcPts val="200"/>
              </a:spcBef>
              <a:defRPr sz="900">
                <a:solidFill>
                  <a:srgbClr val="0F172A"/>
                </a:solidFill>
              </a:defRPr>
            </a:pPr>
            <a:r>
              <a:t>• created_date (DATETIME)</a:t>
            </a:r>
          </a:p>
          <a:p>
            <a:pPr>
              <a:spcBef>
                <a:spcPts val="200"/>
              </a:spcBef>
              <a:defRPr sz="900">
                <a:solidFill>
                  <a:srgbClr val="0F172A"/>
                </a:solidFill>
              </a:defRPr>
            </a:pPr>
            <a:r>
              <a:t>• status (Draft/Approved)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102412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8229600" cy="274320"/>
          </a:xfrm>
          <a:prstGeom prst="rect">
            <a:avLst/>
          </a:prstGeom>
          <a:noFill/>
        </p:spPr>
        <p:txBody>
          <a:bodyPr wrap="square">
            <a:spAutoFit/>
          </a:bodyPr>
          <a:lstStyle/>
          <a:p>
            <a:pPr>
              <a:defRPr sz="1000" b="1">
                <a:solidFill>
                  <a:srgbClr val="D97706"/>
                </a:solidFill>
              </a:defRPr>
            </a:pPr>
            <a:r>
              <a:t>SECTION 3: SYSTEM DESIGN</a:t>
            </a:r>
          </a:p>
        </p:txBody>
      </p:sp>
      <p:sp>
        <p:nvSpPr>
          <p:cNvPr id="6" name="TextBox 5"/>
          <p:cNvSpPr txBox="1"/>
          <p:nvPr/>
        </p:nvSpPr>
        <p:spPr>
          <a:xfrm>
            <a:off x="731520" y="438912"/>
            <a:ext cx="8686800" cy="594360"/>
          </a:xfrm>
          <a:prstGeom prst="rect">
            <a:avLst/>
          </a:prstGeom>
          <a:noFill/>
        </p:spPr>
        <p:txBody>
          <a:bodyPr wrap="square">
            <a:spAutoFit/>
          </a:bodyPr>
          <a:lstStyle/>
          <a:p>
            <a:pPr>
              <a:defRPr sz="2100" b="1">
                <a:solidFill>
                  <a:srgbClr val="FFFFFF"/>
                </a:solidFill>
              </a:defRPr>
            </a:pPr>
            <a:r>
              <a:t>Entity-Relationship (ER) Diagram</a:t>
            </a:r>
          </a:p>
        </p:txBody>
      </p:sp>
      <p:sp>
        <p:nvSpPr>
          <p:cNvPr id="7" name="TextBox 6"/>
          <p:cNvSpPr txBox="1"/>
          <p:nvPr/>
        </p:nvSpPr>
        <p:spPr>
          <a:xfrm>
            <a:off x="9144000" y="292608"/>
            <a:ext cx="2377440" cy="594360"/>
          </a:xfrm>
          <a:prstGeom prst="rect">
            <a:avLst/>
          </a:prstGeom>
          <a:noFill/>
        </p:spPr>
        <p:txBody>
          <a:bodyPr wrap="none">
            <a:spAutoFit/>
          </a:bodyPr>
          <a:lstStyle/>
          <a:p>
            <a:pPr algn="r">
              <a:defRPr sz="1050" b="1">
                <a:solidFill>
                  <a:srgbClr val="94A3B8"/>
                </a:solidFill>
              </a:defRPr>
            </a:pPr>
            <a:r>
              <a:t>SSPU BHILAI</a:t>
            </a:r>
            <a:br/>
            <a:r>
              <a:t>MCA DEPARTMENT</a:t>
            </a:r>
          </a:p>
        </p:txBody>
      </p:sp>
      <p:sp>
        <p:nvSpPr>
          <p:cNvPr id="8" name="TextBox 7"/>
          <p:cNvSpPr txBox="1"/>
          <p:nvPr/>
        </p:nvSpPr>
        <p:spPr>
          <a:xfrm>
            <a:off x="731520" y="6537960"/>
            <a:ext cx="10728655" cy="274320"/>
          </a:xfrm>
          <a:prstGeom prst="rect">
            <a:avLst/>
          </a:prstGeom>
          <a:noFill/>
        </p:spPr>
        <p:txBody>
          <a:bodyPr wrap="none">
            <a:spAutoFit/>
          </a:bodyPr>
          <a:lstStyle/>
          <a:p>
            <a:pPr>
              <a:defRPr sz="850">
                <a:solidFill>
                  <a:srgbClr val="64748B"/>
                </a:solidFill>
              </a:defRPr>
            </a:pPr>
            <a:r>
              <a:t>Ghidora Transport | Online Booking Transport Platform | Amit Kumar Sahu (2526002003) &amp; Raag Patel (2526002048) | Guide: Ms. Divya Jaiswal</a:t>
            </a:r>
          </a:p>
        </p:txBody>
      </p:sp>
      <p:sp>
        <p:nvSpPr>
          <p:cNvPr id="9" name="Rounded Rectangle 8"/>
          <p:cNvSpPr/>
          <p:nvPr/>
        </p:nvSpPr>
        <p:spPr>
          <a:xfrm>
            <a:off x="731520" y="1371600"/>
            <a:ext cx="10728655"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097280" y="1828800"/>
            <a:ext cx="2011680" cy="32004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ENTITY: CUSTOMER</a:t>
            </a:r>
          </a:p>
        </p:txBody>
      </p:sp>
      <p:sp>
        <p:nvSpPr>
          <p:cNvPr id="11" name="Rectangle 10"/>
          <p:cNvSpPr/>
          <p:nvPr/>
        </p:nvSpPr>
        <p:spPr>
          <a:xfrm>
            <a:off x="1097280" y="2148840"/>
            <a:ext cx="2011680" cy="1051560"/>
          </a:xfrm>
          <a:prstGeom prst="rect">
            <a:avLst/>
          </a:prstGeom>
          <a:solidFill>
            <a:srgbClr val="F1F5F9"/>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1E3A8A"/>
                </a:solidFill>
              </a:defRPr>
            </a:pPr>
            <a:r>
              <a:t>• customer_id (PK)</a:t>
            </a:r>
          </a:p>
          <a:p>
            <a:pPr>
              <a:defRPr sz="900">
                <a:solidFill>
                  <a:srgbClr val="0F172A"/>
                </a:solidFill>
              </a:defRPr>
            </a:pPr>
            <a:r>
              <a:t>• name</a:t>
            </a:r>
          </a:p>
          <a:p>
            <a:pPr>
              <a:defRPr sz="900">
                <a:solidFill>
                  <a:srgbClr val="0F172A"/>
                </a:solidFill>
              </a:defRPr>
            </a:pPr>
            <a:r>
              <a:t>• phone</a:t>
            </a:r>
          </a:p>
          <a:p>
            <a:pPr>
              <a:defRPr sz="900">
                <a:solidFill>
                  <a:srgbClr val="0F172A"/>
                </a:solidFill>
              </a:defRPr>
            </a:pPr>
            <a:r>
              <a:t>• email</a:t>
            </a:r>
          </a:p>
        </p:txBody>
      </p:sp>
      <p:sp>
        <p:nvSpPr>
          <p:cNvPr id="12" name="Rounded Rectangle 11"/>
          <p:cNvSpPr/>
          <p:nvPr/>
        </p:nvSpPr>
        <p:spPr>
          <a:xfrm>
            <a:off x="5029200" y="1828800"/>
            <a:ext cx="2194560" cy="3200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ENTITY: BOOKING</a:t>
            </a:r>
          </a:p>
        </p:txBody>
      </p:sp>
      <p:sp>
        <p:nvSpPr>
          <p:cNvPr id="13" name="Rectangle 12"/>
          <p:cNvSpPr/>
          <p:nvPr/>
        </p:nvSpPr>
        <p:spPr>
          <a:xfrm>
            <a:off x="5029200" y="2148840"/>
            <a:ext cx="2194560" cy="1325880"/>
          </a:xfrm>
          <a:prstGeom prst="rect">
            <a:avLst/>
          </a:prstGeom>
          <a:solidFill>
            <a:srgbClr val="F1F5F9"/>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2563EB"/>
                </a:solidFill>
              </a:defRPr>
            </a:pPr>
            <a:r>
              <a:t>• booking_id (PK)</a:t>
            </a:r>
          </a:p>
          <a:p>
            <a:pPr>
              <a:defRPr sz="900">
                <a:solidFill>
                  <a:srgbClr val="0F172A"/>
                </a:solidFill>
              </a:defRPr>
            </a:pPr>
            <a:r>
              <a:t>• pickup / drop</a:t>
            </a:r>
          </a:p>
          <a:p>
            <a:pPr>
              <a:defRPr sz="900">
                <a:solidFill>
                  <a:srgbClr val="0F172A"/>
                </a:solidFill>
              </a:defRPr>
            </a:pPr>
            <a:r>
              <a:t>• booking_date</a:t>
            </a:r>
          </a:p>
          <a:p>
            <a:pPr>
              <a:defRPr sz="900">
                <a:solidFill>
                  <a:srgbClr val="0F172A"/>
                </a:solidFill>
              </a:defRPr>
            </a:pPr>
            <a:r>
              <a:t>• vehicle_type</a:t>
            </a:r>
          </a:p>
          <a:p>
            <a:pPr>
              <a:defRPr sz="900">
                <a:solidFill>
                  <a:srgbClr val="0F172A"/>
                </a:solidFill>
              </a:defRPr>
            </a:pPr>
            <a:r>
              <a:t>• fare, status</a:t>
            </a:r>
          </a:p>
        </p:txBody>
      </p:sp>
      <p:sp>
        <p:nvSpPr>
          <p:cNvPr id="14" name="Rounded Rectangle 13"/>
          <p:cNvSpPr/>
          <p:nvPr/>
        </p:nvSpPr>
        <p:spPr>
          <a:xfrm>
            <a:off x="8961120" y="1828800"/>
            <a:ext cx="2103120" cy="32004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ENTITY: VEHICLE</a:t>
            </a:r>
          </a:p>
        </p:txBody>
      </p:sp>
      <p:sp>
        <p:nvSpPr>
          <p:cNvPr id="15" name="Rectangle 14"/>
          <p:cNvSpPr/>
          <p:nvPr/>
        </p:nvSpPr>
        <p:spPr>
          <a:xfrm>
            <a:off x="8961120" y="2148840"/>
            <a:ext cx="2103120" cy="1143000"/>
          </a:xfrm>
          <a:prstGeom prst="rect">
            <a:avLst/>
          </a:prstGeom>
          <a:solidFill>
            <a:srgbClr val="F1F5F9"/>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10B981"/>
                </a:solidFill>
              </a:defRPr>
            </a:pPr>
            <a:r>
              <a:t>• vehicle_id (PK)</a:t>
            </a:r>
          </a:p>
          <a:p>
            <a:pPr>
              <a:defRPr sz="900">
                <a:solidFill>
                  <a:srgbClr val="0F172A"/>
                </a:solidFill>
              </a:defRPr>
            </a:pPr>
            <a:r>
              <a:t>• vehicle_name</a:t>
            </a:r>
          </a:p>
          <a:p>
            <a:pPr>
              <a:defRPr sz="900">
                <a:solidFill>
                  <a:srgbClr val="0F172A"/>
                </a:solidFill>
              </a:defRPr>
            </a:pPr>
            <a:r>
              <a:t>• reg_number</a:t>
            </a:r>
          </a:p>
          <a:p>
            <a:pPr>
              <a:defRPr sz="900">
                <a:solidFill>
                  <a:srgbClr val="0F172A"/>
                </a:solidFill>
              </a:defRPr>
            </a:pPr>
            <a:r>
              <a:t>• tonnage_cap</a:t>
            </a:r>
          </a:p>
          <a:p>
            <a:pPr>
              <a:defRPr sz="900">
                <a:solidFill>
                  <a:srgbClr val="0F172A"/>
                </a:solidFill>
              </a:defRPr>
            </a:pPr>
            <a:r>
              <a:t>• is_available</a:t>
            </a:r>
          </a:p>
        </p:txBody>
      </p:sp>
      <p:sp>
        <p:nvSpPr>
          <p:cNvPr id="16" name="Rounded Rectangle 15"/>
          <p:cNvSpPr/>
          <p:nvPr/>
        </p:nvSpPr>
        <p:spPr>
          <a:xfrm>
            <a:off x="1097280" y="4297680"/>
            <a:ext cx="2011680" cy="320040"/>
          </a:xfrm>
          <a:prstGeom prst="round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ENTITY: QUOTATION</a:t>
            </a:r>
          </a:p>
        </p:txBody>
      </p:sp>
      <p:sp>
        <p:nvSpPr>
          <p:cNvPr id="17" name="Rectangle 16"/>
          <p:cNvSpPr/>
          <p:nvPr/>
        </p:nvSpPr>
        <p:spPr>
          <a:xfrm>
            <a:off x="1097280" y="4617720"/>
            <a:ext cx="2011680" cy="1051560"/>
          </a:xfrm>
          <a:prstGeom prst="rect">
            <a:avLst/>
          </a:prstGeom>
          <a:solidFill>
            <a:srgbClr val="F1F5F9"/>
          </a:solidFill>
          <a:ln w="1270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7E22CE"/>
                </a:solidFill>
              </a:defRPr>
            </a:pPr>
            <a:r>
              <a:t>• quotation_id (PK)</a:t>
            </a:r>
          </a:p>
          <a:p>
            <a:pPr>
              <a:defRPr sz="900">
                <a:solidFill>
                  <a:srgbClr val="0F172A"/>
                </a:solidFill>
              </a:defRPr>
            </a:pPr>
            <a:r>
              <a:t>• client_name</a:t>
            </a:r>
          </a:p>
          <a:p>
            <a:pPr>
              <a:defRPr sz="900">
                <a:solidFill>
                  <a:srgbClr val="0F172A"/>
                </a:solidFill>
              </a:defRPr>
            </a:pPr>
            <a:r>
              <a:t>• phone</a:t>
            </a:r>
          </a:p>
          <a:p>
            <a:pPr>
              <a:defRPr sz="900">
                <a:solidFill>
                  <a:srgbClr val="0F172A"/>
                </a:solidFill>
              </a:defRPr>
            </a:pPr>
            <a:r>
              <a:t>• quoted_fare</a:t>
            </a:r>
          </a:p>
        </p:txBody>
      </p:sp>
      <p:sp>
        <p:nvSpPr>
          <p:cNvPr id="18" name="Rounded Rectangle 17"/>
          <p:cNvSpPr/>
          <p:nvPr/>
        </p:nvSpPr>
        <p:spPr>
          <a:xfrm>
            <a:off x="5029200" y="4297680"/>
            <a:ext cx="2194560" cy="32004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ENTITY: DRIVER</a:t>
            </a:r>
          </a:p>
        </p:txBody>
      </p:sp>
      <p:sp>
        <p:nvSpPr>
          <p:cNvPr id="19" name="Rectangle 18"/>
          <p:cNvSpPr/>
          <p:nvPr/>
        </p:nvSpPr>
        <p:spPr>
          <a:xfrm>
            <a:off x="5029200" y="4617720"/>
            <a:ext cx="2194560" cy="1051560"/>
          </a:xfrm>
          <a:prstGeom prst="rect">
            <a:avLst/>
          </a:prstGeom>
          <a:solidFill>
            <a:srgbClr val="F1F5F9"/>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F172A"/>
                </a:solidFill>
              </a:defRPr>
            </a:pPr>
            <a:r>
              <a:t>• driver_id (PK)</a:t>
            </a:r>
          </a:p>
          <a:p>
            <a:pPr>
              <a:defRPr sz="900">
                <a:solidFill>
                  <a:srgbClr val="0F172A"/>
                </a:solidFill>
              </a:defRPr>
            </a:pPr>
            <a:r>
              <a:t>• name, phone</a:t>
            </a:r>
          </a:p>
          <a:p>
            <a:pPr>
              <a:defRPr sz="900">
                <a:solidFill>
                  <a:srgbClr val="0F172A"/>
                </a:solidFill>
              </a:defRPr>
            </a:pPr>
            <a:r>
              <a:t>• license_no</a:t>
            </a:r>
          </a:p>
          <a:p>
            <a:pPr>
              <a:defRPr sz="900">
                <a:solidFill>
                  <a:srgbClr val="0F172A"/>
                </a:solidFill>
              </a:defRPr>
            </a:pPr>
            <a:r>
              <a:t>• assigned_vehicle</a:t>
            </a:r>
          </a:p>
        </p:txBody>
      </p:sp>
      <p:sp>
        <p:nvSpPr>
          <p:cNvPr id="20" name="Rounded Rectangle 19"/>
          <p:cNvSpPr/>
          <p:nvPr/>
        </p:nvSpPr>
        <p:spPr>
          <a:xfrm>
            <a:off x="8961120" y="4297680"/>
            <a:ext cx="2103120" cy="32004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ENTITY: EXPENSE</a:t>
            </a:r>
          </a:p>
        </p:txBody>
      </p:sp>
      <p:sp>
        <p:nvSpPr>
          <p:cNvPr id="21" name="Rectangle 20"/>
          <p:cNvSpPr/>
          <p:nvPr/>
        </p:nvSpPr>
        <p:spPr>
          <a:xfrm>
            <a:off x="8961120" y="4617720"/>
            <a:ext cx="2103120" cy="1051560"/>
          </a:xfrm>
          <a:prstGeom prst="rect">
            <a:avLst/>
          </a:prstGeom>
          <a:solidFill>
            <a:srgbClr val="F1F5F9"/>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D97706"/>
                </a:solidFill>
              </a:defRPr>
            </a:pPr>
            <a:r>
              <a:t>• expense_id (PK)</a:t>
            </a:r>
          </a:p>
          <a:p>
            <a:pPr>
              <a:defRPr sz="900">
                <a:solidFill>
                  <a:srgbClr val="0F172A"/>
                </a:solidFill>
              </a:defRPr>
            </a:pPr>
            <a:r>
              <a:t>• vehicle_id (FK)</a:t>
            </a:r>
          </a:p>
          <a:p>
            <a:pPr>
              <a:defRPr sz="900">
                <a:solidFill>
                  <a:srgbClr val="0F172A"/>
                </a:solidFill>
              </a:defRPr>
            </a:pPr>
            <a:r>
              <a:t>• category, amount</a:t>
            </a:r>
          </a:p>
          <a:p>
            <a:pPr>
              <a:defRPr sz="900">
                <a:solidFill>
                  <a:srgbClr val="0F172A"/>
                </a:solidFill>
              </a:defRPr>
            </a:pPr>
            <a:r>
              <a:t>• receipt_photo</a:t>
            </a:r>
          </a:p>
        </p:txBody>
      </p:sp>
      <p:sp>
        <p:nvSpPr>
          <p:cNvPr id="22" name="Oval 21"/>
          <p:cNvSpPr/>
          <p:nvPr/>
        </p:nvSpPr>
        <p:spPr>
          <a:xfrm>
            <a:off x="3291840" y="2194560"/>
            <a:ext cx="1554480" cy="365760"/>
          </a:xfrm>
          <a:prstGeom prst="ellipse">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PLACES [1:N]</a:t>
            </a:r>
          </a:p>
        </p:txBody>
      </p:sp>
      <p:sp>
        <p:nvSpPr>
          <p:cNvPr id="23" name="Oval 22"/>
          <p:cNvSpPr/>
          <p:nvPr/>
        </p:nvSpPr>
        <p:spPr>
          <a:xfrm>
            <a:off x="7406640" y="2194560"/>
            <a:ext cx="1371600" cy="36576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ASSIGNED [N:1]</a:t>
            </a:r>
          </a:p>
        </p:txBody>
      </p:sp>
      <p:sp>
        <p:nvSpPr>
          <p:cNvPr id="24" name="Oval 23"/>
          <p:cNvSpPr/>
          <p:nvPr/>
        </p:nvSpPr>
        <p:spPr>
          <a:xfrm>
            <a:off x="1280160" y="3474720"/>
            <a:ext cx="1645920" cy="320040"/>
          </a:xfrm>
          <a:prstGeom prst="ellipse">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REQUESTS [1:N]</a:t>
            </a:r>
          </a:p>
        </p:txBody>
      </p:sp>
      <p:sp>
        <p:nvSpPr>
          <p:cNvPr id="25" name="Oval 24"/>
          <p:cNvSpPr/>
          <p:nvPr/>
        </p:nvSpPr>
        <p:spPr>
          <a:xfrm>
            <a:off x="5303520" y="3657600"/>
            <a:ext cx="1645920" cy="320040"/>
          </a:xfrm>
          <a:prstGeom prst="ellipse">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OPERATES [1:1]</a:t>
            </a:r>
          </a:p>
        </p:txBody>
      </p:sp>
      <p:sp>
        <p:nvSpPr>
          <p:cNvPr id="26" name="Oval 25"/>
          <p:cNvSpPr/>
          <p:nvPr/>
        </p:nvSpPr>
        <p:spPr>
          <a:xfrm>
            <a:off x="9052560" y="3566160"/>
            <a:ext cx="1645920" cy="320040"/>
          </a:xfrm>
          <a:prstGeom prst="ellipse">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INCURS [1:N]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102412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8229600" cy="274320"/>
          </a:xfrm>
          <a:prstGeom prst="rect">
            <a:avLst/>
          </a:prstGeom>
          <a:noFill/>
        </p:spPr>
        <p:txBody>
          <a:bodyPr wrap="square">
            <a:spAutoFit/>
          </a:bodyPr>
          <a:lstStyle/>
          <a:p>
            <a:pPr>
              <a:defRPr sz="1000" b="1">
                <a:solidFill>
                  <a:srgbClr val="D97706"/>
                </a:solidFill>
              </a:defRPr>
            </a:pPr>
            <a:r>
              <a:t>SECTION 3: SYSTEM DESIGN</a:t>
            </a:r>
          </a:p>
        </p:txBody>
      </p:sp>
      <p:sp>
        <p:nvSpPr>
          <p:cNvPr id="6" name="TextBox 5"/>
          <p:cNvSpPr txBox="1"/>
          <p:nvPr/>
        </p:nvSpPr>
        <p:spPr>
          <a:xfrm>
            <a:off x="731520" y="438912"/>
            <a:ext cx="8686800" cy="594360"/>
          </a:xfrm>
          <a:prstGeom prst="rect">
            <a:avLst/>
          </a:prstGeom>
          <a:noFill/>
        </p:spPr>
        <p:txBody>
          <a:bodyPr wrap="square">
            <a:spAutoFit/>
          </a:bodyPr>
          <a:lstStyle/>
          <a:p>
            <a:pPr>
              <a:defRPr sz="2100" b="1">
                <a:solidFill>
                  <a:srgbClr val="FFFFFF"/>
                </a:solidFill>
              </a:defRPr>
            </a:pPr>
            <a:r>
              <a:t>Data Flow Diagram: Level 0 (Context Diagram)</a:t>
            </a:r>
          </a:p>
        </p:txBody>
      </p:sp>
      <p:sp>
        <p:nvSpPr>
          <p:cNvPr id="7" name="TextBox 6"/>
          <p:cNvSpPr txBox="1"/>
          <p:nvPr/>
        </p:nvSpPr>
        <p:spPr>
          <a:xfrm>
            <a:off x="9144000" y="292608"/>
            <a:ext cx="2377440" cy="594360"/>
          </a:xfrm>
          <a:prstGeom prst="rect">
            <a:avLst/>
          </a:prstGeom>
          <a:noFill/>
        </p:spPr>
        <p:txBody>
          <a:bodyPr wrap="none">
            <a:spAutoFit/>
          </a:bodyPr>
          <a:lstStyle/>
          <a:p>
            <a:pPr algn="r">
              <a:defRPr sz="1050" b="1">
                <a:solidFill>
                  <a:srgbClr val="94A3B8"/>
                </a:solidFill>
              </a:defRPr>
            </a:pPr>
            <a:r>
              <a:t>SSPU BHILAI</a:t>
            </a:r>
            <a:br/>
            <a:r>
              <a:t>MCA DEPARTMENT</a:t>
            </a:r>
          </a:p>
        </p:txBody>
      </p:sp>
      <p:sp>
        <p:nvSpPr>
          <p:cNvPr id="8" name="TextBox 7"/>
          <p:cNvSpPr txBox="1"/>
          <p:nvPr/>
        </p:nvSpPr>
        <p:spPr>
          <a:xfrm>
            <a:off x="731520" y="6537960"/>
            <a:ext cx="10728655" cy="274320"/>
          </a:xfrm>
          <a:prstGeom prst="rect">
            <a:avLst/>
          </a:prstGeom>
          <a:noFill/>
        </p:spPr>
        <p:txBody>
          <a:bodyPr wrap="none">
            <a:spAutoFit/>
          </a:bodyPr>
          <a:lstStyle/>
          <a:p>
            <a:pPr>
              <a:defRPr sz="850">
                <a:solidFill>
                  <a:srgbClr val="64748B"/>
                </a:solidFill>
              </a:defRPr>
            </a:pPr>
            <a:r>
              <a:t>Ghidora Transport | Online Booking Transport Platform | Amit Kumar Sahu (2526002003) &amp; Raag Patel (2526002048) | Guide: Ms. Divya Jaiswal</a:t>
            </a:r>
          </a:p>
        </p:txBody>
      </p:sp>
      <p:sp>
        <p:nvSpPr>
          <p:cNvPr id="9" name="Rounded Rectangle 8"/>
          <p:cNvSpPr/>
          <p:nvPr/>
        </p:nvSpPr>
        <p:spPr>
          <a:xfrm>
            <a:off x="731520" y="1371600"/>
            <a:ext cx="10728655"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72000" y="2651760"/>
            <a:ext cx="3047695" cy="2011680"/>
          </a:xfrm>
          <a:prstGeom prst="roundRect">
            <a:avLst/>
          </a:prstGeom>
          <a:solidFill>
            <a:srgbClr val="1E3A8A"/>
          </a:solidFill>
          <a:ln w="317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D97706"/>
                </a:solidFill>
              </a:defRPr>
            </a:pPr>
            <a:r>
              <a:t>PROCESS 0.0</a:t>
            </a:r>
          </a:p>
          <a:p>
            <a:pPr algn="ctr">
              <a:spcBef>
                <a:spcPts val="400"/>
              </a:spcBef>
              <a:defRPr sz="1500" b="1">
                <a:solidFill>
                  <a:srgbClr val="FFFFFF"/>
                </a:solidFill>
              </a:defRPr>
            </a:pPr>
            <a:r>
              <a:t>GHIDORA TRANSPORT</a:t>
            </a:r>
            <a:br/>
            <a:r>
              <a:t>ONLINE PLATFORM</a:t>
            </a:r>
          </a:p>
          <a:p>
            <a:pPr algn="ctr">
              <a:spcBef>
                <a:spcPts val="400"/>
              </a:spcBef>
              <a:defRPr sz="1000">
                <a:solidFill>
                  <a:srgbClr val="BFDBFE"/>
                </a:solidFill>
              </a:defRPr>
            </a:pPr>
            <a:r>
              <a:t>(Central Django Application)</a:t>
            </a:r>
          </a:p>
        </p:txBody>
      </p:sp>
      <p:sp>
        <p:nvSpPr>
          <p:cNvPr id="11" name="Rectangle 10"/>
          <p:cNvSpPr/>
          <p:nvPr/>
        </p:nvSpPr>
        <p:spPr>
          <a:xfrm>
            <a:off x="1005840" y="2560320"/>
            <a:ext cx="2194560" cy="2194560"/>
          </a:xfrm>
          <a:prstGeom prst="rect">
            <a:avLst/>
          </a:prstGeom>
          <a:solidFill>
            <a:srgbClr val="1E293B"/>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D97706"/>
                </a:solidFill>
              </a:defRPr>
            </a:pPr>
            <a:r>
              <a:t>EXTERNAL ENTITY</a:t>
            </a:r>
          </a:p>
          <a:p>
            <a:pPr algn="ctr">
              <a:spcBef>
                <a:spcPts val="400"/>
              </a:spcBef>
              <a:defRPr sz="1400" b="1">
                <a:solidFill>
                  <a:srgbClr val="FFFFFF"/>
                </a:solidFill>
              </a:defRPr>
            </a:pPr>
            <a:r>
              <a:t>CUSTOMER /</a:t>
            </a:r>
            <a:br/>
            <a:r>
              <a:t>USER</a:t>
            </a:r>
          </a:p>
          <a:p>
            <a:pPr>
              <a:spcBef>
                <a:spcPts val="600"/>
              </a:spcBef>
              <a:defRPr sz="950">
                <a:solidFill>
                  <a:srgbClr val="CBD5E1"/>
                </a:solidFill>
              </a:defRPr>
            </a:pPr>
            <a:r>
              <a:t>• Name &amp; Contact</a:t>
            </a:r>
            <a:br/>
            <a:r>
              <a:t>• Pickup &amp; Drop</a:t>
            </a:r>
            <a:br/>
            <a:r>
              <a:t>• Booking Date</a:t>
            </a:r>
            <a:br/>
            <a:r>
              <a:t>• Vehicle Choice</a:t>
            </a:r>
          </a:p>
        </p:txBody>
      </p:sp>
      <p:sp>
        <p:nvSpPr>
          <p:cNvPr id="12" name="Rectangle 11"/>
          <p:cNvSpPr/>
          <p:nvPr/>
        </p:nvSpPr>
        <p:spPr>
          <a:xfrm>
            <a:off x="8961120" y="1645920"/>
            <a:ext cx="2194560" cy="1828800"/>
          </a:xfrm>
          <a:prstGeom prst="rect">
            <a:avLst/>
          </a:prstGeom>
          <a:solidFill>
            <a:srgbClr val="1E293B"/>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10B981"/>
                </a:solidFill>
              </a:defRPr>
            </a:pPr>
            <a:r>
              <a:t>EXTERNAL ENTITY</a:t>
            </a:r>
          </a:p>
          <a:p>
            <a:pPr algn="ctr">
              <a:spcBef>
                <a:spcPts val="300"/>
              </a:spcBef>
              <a:defRPr sz="1300" b="1">
                <a:solidFill>
                  <a:srgbClr val="FFFFFF"/>
                </a:solidFill>
              </a:defRPr>
            </a:pPr>
            <a:r>
              <a:t>DRIVER</a:t>
            </a:r>
          </a:p>
          <a:p>
            <a:pPr>
              <a:spcBef>
                <a:spcPts val="400"/>
              </a:spcBef>
              <a:defRPr sz="950">
                <a:solidFill>
                  <a:srgbClr val="CBD5E1"/>
                </a:solidFill>
              </a:defRPr>
            </a:pPr>
            <a:r>
              <a:t>• Availability Status</a:t>
            </a:r>
            <a:br/>
            <a:r>
              <a:t>• Trip Acceptance</a:t>
            </a:r>
            <a:br/>
            <a:r>
              <a:t>• Toll &amp; Fuel Slips</a:t>
            </a:r>
          </a:p>
        </p:txBody>
      </p:sp>
      <p:sp>
        <p:nvSpPr>
          <p:cNvPr id="13" name="Rectangle 12"/>
          <p:cNvSpPr/>
          <p:nvPr/>
        </p:nvSpPr>
        <p:spPr>
          <a:xfrm>
            <a:off x="8961120" y="4023360"/>
            <a:ext cx="2194560" cy="1828800"/>
          </a:xfrm>
          <a:prstGeom prst="rect">
            <a:avLst/>
          </a:prstGeom>
          <a:solidFill>
            <a:srgbClr val="1E293B"/>
          </a:solidFill>
          <a:ln w="254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D97706"/>
                </a:solidFill>
              </a:defRPr>
            </a:pPr>
            <a:r>
              <a:t>EXTERNAL ENTITY</a:t>
            </a:r>
          </a:p>
          <a:p>
            <a:pPr algn="ctr">
              <a:spcBef>
                <a:spcPts val="300"/>
              </a:spcBef>
              <a:defRPr sz="1300" b="1">
                <a:solidFill>
                  <a:srgbClr val="FFFFFF"/>
                </a:solidFill>
              </a:defRPr>
            </a:pPr>
            <a:r>
              <a:t>ADMIN / OWNER</a:t>
            </a:r>
          </a:p>
          <a:p>
            <a:pPr>
              <a:spcBef>
                <a:spcPts val="400"/>
              </a:spcBef>
              <a:defRPr sz="950">
                <a:solidFill>
                  <a:srgbClr val="CBD5E1"/>
                </a:solidFill>
              </a:defRPr>
            </a:pPr>
            <a:r>
              <a:t>• Vehicle Roster</a:t>
            </a:r>
            <a:br/>
            <a:r>
              <a:t>• Rate Configuration</a:t>
            </a:r>
            <a:br/>
            <a:r>
              <a:t>• Booking &amp; Audit Logs</a:t>
            </a:r>
          </a:p>
        </p:txBody>
      </p:sp>
      <p:sp>
        <p:nvSpPr>
          <p:cNvPr id="14" name="Rounded Rectangle 13"/>
          <p:cNvSpPr/>
          <p:nvPr/>
        </p:nvSpPr>
        <p:spPr>
          <a:xfrm>
            <a:off x="3246120" y="2926080"/>
            <a:ext cx="1280160" cy="365760"/>
          </a:xfrm>
          <a:prstGeom prst="roundRect">
            <a:avLst/>
          </a:prstGeom>
          <a:solidFill>
            <a:srgbClr val="F1F5F9"/>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50" b="1">
                <a:solidFill>
                  <a:srgbClr val="2563EB"/>
                </a:solidFill>
              </a:defRPr>
            </a:pPr>
            <a:r>
              <a:t>→ Booking Form Details →</a:t>
            </a:r>
          </a:p>
        </p:txBody>
      </p:sp>
      <p:sp>
        <p:nvSpPr>
          <p:cNvPr id="15" name="Rounded Rectangle 14"/>
          <p:cNvSpPr/>
          <p:nvPr/>
        </p:nvSpPr>
        <p:spPr>
          <a:xfrm>
            <a:off x="3246120" y="3931920"/>
            <a:ext cx="1280160" cy="365760"/>
          </a:xfrm>
          <a:prstGeom prst="roundRect">
            <a:avLst/>
          </a:prstGeom>
          <a:solidFill>
            <a:srgbClr val="F1F5F9"/>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50" b="1">
                <a:solidFill>
                  <a:srgbClr val="1E3A8A"/>
                </a:solidFill>
              </a:defRPr>
            </a:pPr>
            <a:r>
              <a:t>← Fare Display, Booking ID ←</a:t>
            </a:r>
          </a:p>
        </p:txBody>
      </p:sp>
      <p:sp>
        <p:nvSpPr>
          <p:cNvPr id="16" name="Rounded Rectangle 15"/>
          <p:cNvSpPr/>
          <p:nvPr/>
        </p:nvSpPr>
        <p:spPr>
          <a:xfrm>
            <a:off x="7635240" y="2011680"/>
            <a:ext cx="1280160" cy="365760"/>
          </a:xfrm>
          <a:prstGeom prst="roundRect">
            <a:avLst/>
          </a:prstGeom>
          <a:solidFill>
            <a:srgbClr val="F1F5F9"/>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50" b="1">
                <a:solidFill>
                  <a:srgbClr val="10B981"/>
                </a:solidFill>
              </a:defRPr>
            </a:pPr>
            <a:r>
              <a:t>← Trip Assignment Sheet ←</a:t>
            </a:r>
          </a:p>
        </p:txBody>
      </p:sp>
      <p:sp>
        <p:nvSpPr>
          <p:cNvPr id="17" name="Rounded Rectangle 16"/>
          <p:cNvSpPr/>
          <p:nvPr/>
        </p:nvSpPr>
        <p:spPr>
          <a:xfrm>
            <a:off x="7635240" y="2651760"/>
            <a:ext cx="1280160" cy="365760"/>
          </a:xfrm>
          <a:prstGeom prst="roundRect">
            <a:avLst/>
          </a:prstGeom>
          <a:solidFill>
            <a:srgbClr val="F1F5F9"/>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50" b="1">
                <a:solidFill>
                  <a:srgbClr val="10B981"/>
                </a:solidFill>
              </a:defRPr>
            </a:pPr>
            <a:r>
              <a:t>→ Status Update, Toll Receipt →</a:t>
            </a:r>
          </a:p>
        </p:txBody>
      </p:sp>
      <p:sp>
        <p:nvSpPr>
          <p:cNvPr id="18" name="Rounded Rectangle 17"/>
          <p:cNvSpPr/>
          <p:nvPr/>
        </p:nvSpPr>
        <p:spPr>
          <a:xfrm>
            <a:off x="7635240" y="4297680"/>
            <a:ext cx="1280160" cy="365760"/>
          </a:xfrm>
          <a:prstGeom prst="roundRect">
            <a:avLst/>
          </a:prstGeom>
          <a:solidFill>
            <a:srgbClr val="F1F5F9"/>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50" b="1">
                <a:solidFill>
                  <a:srgbClr val="D97706"/>
                </a:solidFill>
              </a:defRPr>
            </a:pPr>
            <a:r>
              <a:t>← Booking Reports &amp; Logs ←</a:t>
            </a:r>
          </a:p>
        </p:txBody>
      </p:sp>
      <p:sp>
        <p:nvSpPr>
          <p:cNvPr id="19" name="Rounded Rectangle 18"/>
          <p:cNvSpPr/>
          <p:nvPr/>
        </p:nvSpPr>
        <p:spPr>
          <a:xfrm>
            <a:off x="7635240" y="4937760"/>
            <a:ext cx="1280160" cy="365760"/>
          </a:xfrm>
          <a:prstGeom prst="roundRect">
            <a:avLst/>
          </a:prstGeom>
          <a:solidFill>
            <a:srgbClr val="F1F5F9"/>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50" b="1">
                <a:solidFill>
                  <a:srgbClr val="D97706"/>
                </a:solidFill>
              </a:defRPr>
            </a:pPr>
            <a:r>
              <a:t>→ Manage Rates &amp; Fleet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102412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8229600" cy="274320"/>
          </a:xfrm>
          <a:prstGeom prst="rect">
            <a:avLst/>
          </a:prstGeom>
          <a:noFill/>
        </p:spPr>
        <p:txBody>
          <a:bodyPr wrap="square">
            <a:spAutoFit/>
          </a:bodyPr>
          <a:lstStyle/>
          <a:p>
            <a:pPr>
              <a:defRPr sz="1000" b="1">
                <a:solidFill>
                  <a:srgbClr val="D97706"/>
                </a:solidFill>
              </a:defRPr>
            </a:pPr>
            <a:r>
              <a:t>SECTION 3: SYSTEM DESIGN</a:t>
            </a:r>
          </a:p>
        </p:txBody>
      </p:sp>
      <p:sp>
        <p:nvSpPr>
          <p:cNvPr id="6" name="TextBox 5"/>
          <p:cNvSpPr txBox="1"/>
          <p:nvPr/>
        </p:nvSpPr>
        <p:spPr>
          <a:xfrm>
            <a:off x="731520" y="438912"/>
            <a:ext cx="8686800" cy="594360"/>
          </a:xfrm>
          <a:prstGeom prst="rect">
            <a:avLst/>
          </a:prstGeom>
          <a:noFill/>
        </p:spPr>
        <p:txBody>
          <a:bodyPr wrap="square">
            <a:spAutoFit/>
          </a:bodyPr>
          <a:lstStyle/>
          <a:p>
            <a:pPr>
              <a:defRPr sz="2100" b="1">
                <a:solidFill>
                  <a:srgbClr val="FFFFFF"/>
                </a:solidFill>
              </a:defRPr>
            </a:pPr>
            <a:r>
              <a:t>Data Flow Diagram: Level 1 (Functional DFD)</a:t>
            </a:r>
          </a:p>
        </p:txBody>
      </p:sp>
      <p:sp>
        <p:nvSpPr>
          <p:cNvPr id="7" name="TextBox 6"/>
          <p:cNvSpPr txBox="1"/>
          <p:nvPr/>
        </p:nvSpPr>
        <p:spPr>
          <a:xfrm>
            <a:off x="9144000" y="292608"/>
            <a:ext cx="2377440" cy="594360"/>
          </a:xfrm>
          <a:prstGeom prst="rect">
            <a:avLst/>
          </a:prstGeom>
          <a:noFill/>
        </p:spPr>
        <p:txBody>
          <a:bodyPr wrap="none">
            <a:spAutoFit/>
          </a:bodyPr>
          <a:lstStyle/>
          <a:p>
            <a:pPr algn="r">
              <a:defRPr sz="1050" b="1">
                <a:solidFill>
                  <a:srgbClr val="94A3B8"/>
                </a:solidFill>
              </a:defRPr>
            </a:pPr>
            <a:r>
              <a:t>SSPU BHILAI</a:t>
            </a:r>
            <a:br/>
            <a:r>
              <a:t>MCA DEPARTMENT</a:t>
            </a:r>
          </a:p>
        </p:txBody>
      </p:sp>
      <p:sp>
        <p:nvSpPr>
          <p:cNvPr id="8" name="TextBox 7"/>
          <p:cNvSpPr txBox="1"/>
          <p:nvPr/>
        </p:nvSpPr>
        <p:spPr>
          <a:xfrm>
            <a:off x="731520" y="6537960"/>
            <a:ext cx="10728655" cy="274320"/>
          </a:xfrm>
          <a:prstGeom prst="rect">
            <a:avLst/>
          </a:prstGeom>
          <a:noFill/>
        </p:spPr>
        <p:txBody>
          <a:bodyPr wrap="none">
            <a:spAutoFit/>
          </a:bodyPr>
          <a:lstStyle/>
          <a:p>
            <a:pPr>
              <a:defRPr sz="850">
                <a:solidFill>
                  <a:srgbClr val="64748B"/>
                </a:solidFill>
              </a:defRPr>
            </a:pPr>
            <a:r>
              <a:t>Ghidora Transport | Online Booking Transport Platform | Amit Kumar Sahu (2526002003) &amp; Raag Patel (2526002048) | Guide: Ms. Divya Jaiswal</a:t>
            </a:r>
          </a:p>
        </p:txBody>
      </p:sp>
      <p:sp>
        <p:nvSpPr>
          <p:cNvPr id="9" name="Rounded Rectangle 8"/>
          <p:cNvSpPr/>
          <p:nvPr/>
        </p:nvSpPr>
        <p:spPr>
          <a:xfrm>
            <a:off x="731520" y="1371600"/>
            <a:ext cx="10728655"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097280" y="1645920"/>
            <a:ext cx="2377440" cy="128016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1.0 FORM INPUT VALIDATION</a:t>
            </a:r>
          </a:p>
          <a:p>
            <a:pPr>
              <a:spcBef>
                <a:spcPts val="400"/>
              </a:spcBef>
              <a:defRPr sz="900">
                <a:solidFill>
                  <a:srgbClr val="F1F5F9"/>
                </a:solidFill>
              </a:defRPr>
            </a:pPr>
            <a:r>
              <a:t>Receives name, contact, pickup, drop &amp; date. Validates form inputs &amp; checks CSRF token.</a:t>
            </a:r>
          </a:p>
        </p:txBody>
      </p:sp>
      <p:sp>
        <p:nvSpPr>
          <p:cNvPr id="11" name="Rounded Rectangle 10"/>
          <p:cNvSpPr/>
          <p:nvPr/>
        </p:nvSpPr>
        <p:spPr>
          <a:xfrm>
            <a:off x="4846320" y="1645920"/>
            <a:ext cx="2468880" cy="12801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2.0 FARE CALCULATION ENGINE</a:t>
            </a:r>
          </a:p>
          <a:p>
            <a:pPr>
              <a:spcBef>
                <a:spcPts val="400"/>
              </a:spcBef>
              <a:defRPr sz="900">
                <a:solidFill>
                  <a:srgbClr val="F1F5F9"/>
                </a:solidFill>
              </a:defRPr>
            </a:pPr>
            <a:r>
              <a:t>Evaluates distance between pickup &amp; drop, applies vehicle rate chart, computes total fare.</a:t>
            </a:r>
          </a:p>
        </p:txBody>
      </p:sp>
      <p:sp>
        <p:nvSpPr>
          <p:cNvPr id="12" name="Rounded Rectangle 11"/>
          <p:cNvSpPr/>
          <p:nvPr/>
        </p:nvSpPr>
        <p:spPr>
          <a:xfrm>
            <a:off x="8686800" y="1645920"/>
            <a:ext cx="2377440" cy="12801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3.0 BOOKING CONFIRMATION</a:t>
            </a:r>
          </a:p>
          <a:p>
            <a:pPr>
              <a:spcBef>
                <a:spcPts val="400"/>
              </a:spcBef>
              <a:defRPr sz="900">
                <a:solidFill>
                  <a:srgbClr val="F1F5F9"/>
                </a:solidFill>
              </a:defRPr>
            </a:pPr>
            <a:r>
              <a:t>Generates unique booking reference ID, registers booking, and dispatches trip details.</a:t>
            </a:r>
          </a:p>
        </p:txBody>
      </p:sp>
      <p:sp>
        <p:nvSpPr>
          <p:cNvPr id="13" name="Rounded Rectangle 12"/>
          <p:cNvSpPr/>
          <p:nvPr/>
        </p:nvSpPr>
        <p:spPr>
          <a:xfrm>
            <a:off x="1097280" y="4114800"/>
            <a:ext cx="2377440" cy="128016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4.0 EXPENSE &amp; TOLL AUDITING</a:t>
            </a:r>
          </a:p>
          <a:p>
            <a:pPr>
              <a:spcBef>
                <a:spcPts val="400"/>
              </a:spcBef>
              <a:defRPr sz="900">
                <a:solidFill>
                  <a:srgbClr val="F1F5F9"/>
                </a:solidFill>
              </a:defRPr>
            </a:pPr>
            <a:r>
              <a:t>Records driver fuel expenses and toll plaza receipt uploads for administrative auditing.</a:t>
            </a:r>
          </a:p>
        </p:txBody>
      </p:sp>
      <p:sp>
        <p:nvSpPr>
          <p:cNvPr id="14" name="Rounded Rectangle 13"/>
          <p:cNvSpPr/>
          <p:nvPr/>
        </p:nvSpPr>
        <p:spPr>
          <a:xfrm>
            <a:off x="4846320" y="4114800"/>
            <a:ext cx="2468880" cy="1280160"/>
          </a:xfrm>
          <a:prstGeom prst="round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5.0 QUOTATION BUILDER</a:t>
            </a:r>
          </a:p>
          <a:p>
            <a:pPr>
              <a:spcBef>
                <a:spcPts val="400"/>
              </a:spcBef>
              <a:defRPr sz="900">
                <a:solidFill>
                  <a:srgbClr val="F1F5F9"/>
                </a:solidFill>
              </a:defRPr>
            </a:pPr>
            <a:r>
              <a:t>Generates printable / downloadable commercial PDF quotations for event or bulk clients.</a:t>
            </a:r>
          </a:p>
        </p:txBody>
      </p:sp>
      <p:sp>
        <p:nvSpPr>
          <p:cNvPr id="15" name="Rectangle 14"/>
          <p:cNvSpPr/>
          <p:nvPr/>
        </p:nvSpPr>
        <p:spPr>
          <a:xfrm>
            <a:off x="8686800" y="3291840"/>
            <a:ext cx="2377440" cy="594360"/>
          </a:xfrm>
          <a:prstGeom prst="rect">
            <a:avLst/>
          </a:prstGeom>
          <a:solidFill>
            <a:srgbClr val="F8FAFC"/>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F172A"/>
                </a:solidFill>
              </a:defRPr>
            </a:pPr>
            <a:r>
              <a:t>🗄 D1: USER STORE</a:t>
            </a:r>
          </a:p>
        </p:txBody>
      </p:sp>
      <p:sp>
        <p:nvSpPr>
          <p:cNvPr id="16" name="Rectangle 15"/>
          <p:cNvSpPr/>
          <p:nvPr/>
        </p:nvSpPr>
        <p:spPr>
          <a:xfrm>
            <a:off x="8686800" y="4023360"/>
            <a:ext cx="2377440" cy="594360"/>
          </a:xfrm>
          <a:prstGeom prst="rect">
            <a:avLst/>
          </a:prstGeom>
          <a:solidFill>
            <a:srgbClr val="F8FAFC"/>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E3A8A"/>
                </a:solidFill>
              </a:defRPr>
            </a:pPr>
            <a:r>
              <a:t>🗄 D2: BOOKINGS STORE</a:t>
            </a:r>
          </a:p>
        </p:txBody>
      </p:sp>
      <p:sp>
        <p:nvSpPr>
          <p:cNvPr id="17" name="Rectangle 16"/>
          <p:cNvSpPr/>
          <p:nvPr/>
        </p:nvSpPr>
        <p:spPr>
          <a:xfrm>
            <a:off x="8686800" y="4754880"/>
            <a:ext cx="2377440" cy="594360"/>
          </a:xfrm>
          <a:prstGeom prst="rect">
            <a:avLst/>
          </a:prstGeom>
          <a:solidFill>
            <a:srgbClr val="F8FAFC"/>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0B981"/>
                </a:solidFill>
              </a:defRPr>
            </a:pPr>
            <a:r>
              <a:t>🗄 D3: VEHICLE FLEET STORE</a:t>
            </a:r>
          </a:p>
        </p:txBody>
      </p:sp>
      <p:sp>
        <p:nvSpPr>
          <p:cNvPr id="18" name="Rectangle 17"/>
          <p:cNvSpPr/>
          <p:nvPr/>
        </p:nvSpPr>
        <p:spPr>
          <a:xfrm>
            <a:off x="8686800" y="5486400"/>
            <a:ext cx="2377440" cy="594360"/>
          </a:xfrm>
          <a:prstGeom prst="rect">
            <a:avLst/>
          </a:prstGeom>
          <a:solidFill>
            <a:srgbClr val="F8FAFC"/>
          </a:solidFill>
          <a:ln w="254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D97706"/>
                </a:solidFill>
              </a:defRPr>
            </a:pPr>
            <a:r>
              <a:t>🗄 D4: EXPENSE STORE</a:t>
            </a:r>
          </a:p>
        </p:txBody>
      </p:sp>
      <p:sp>
        <p:nvSpPr>
          <p:cNvPr id="19" name="TextBox 18"/>
          <p:cNvSpPr txBox="1"/>
          <p:nvPr/>
        </p:nvSpPr>
        <p:spPr>
          <a:xfrm>
            <a:off x="1097280" y="5486400"/>
            <a:ext cx="6858000" cy="640080"/>
          </a:xfrm>
          <a:prstGeom prst="rect">
            <a:avLst/>
          </a:prstGeom>
          <a:noFill/>
        </p:spPr>
        <p:txBody>
          <a:bodyPr wrap="none">
            <a:spAutoFit/>
          </a:bodyPr>
          <a:lstStyle/>
          <a:p>
            <a:pPr>
              <a:defRPr sz="950" i="1">
                <a:solidFill>
                  <a:srgbClr val="64748B"/>
                </a:solidFill>
              </a:defRPr>
            </a:pPr>
            <a:r>
              <a:t>Data Flow: Processes (1.0 - 5.0) write and retrieve structured data from SQLite Data Stores (D1 - D4) via Django ORM.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102412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8229600" cy="274320"/>
          </a:xfrm>
          <a:prstGeom prst="rect">
            <a:avLst/>
          </a:prstGeom>
          <a:noFill/>
        </p:spPr>
        <p:txBody>
          <a:bodyPr wrap="square">
            <a:spAutoFit/>
          </a:bodyPr>
          <a:lstStyle/>
          <a:p>
            <a:pPr>
              <a:defRPr sz="1000" b="1">
                <a:solidFill>
                  <a:srgbClr val="D97706"/>
                </a:solidFill>
              </a:defRPr>
            </a:pPr>
            <a:r>
              <a:t>SECTION 4: METHODOLOGY</a:t>
            </a:r>
          </a:p>
        </p:txBody>
      </p:sp>
      <p:sp>
        <p:nvSpPr>
          <p:cNvPr id="6" name="TextBox 5"/>
          <p:cNvSpPr txBox="1"/>
          <p:nvPr/>
        </p:nvSpPr>
        <p:spPr>
          <a:xfrm>
            <a:off x="731520" y="438912"/>
            <a:ext cx="8686800" cy="594360"/>
          </a:xfrm>
          <a:prstGeom prst="rect">
            <a:avLst/>
          </a:prstGeom>
          <a:noFill/>
        </p:spPr>
        <p:txBody>
          <a:bodyPr wrap="square">
            <a:spAutoFit/>
          </a:bodyPr>
          <a:lstStyle/>
          <a:p>
            <a:pPr>
              <a:defRPr sz="2100" b="1">
                <a:solidFill>
                  <a:srgbClr val="FFFFFF"/>
                </a:solidFill>
              </a:defRPr>
            </a:pPr>
            <a:r>
              <a:t>Project Methodology: Agile Iterative SDLC Model</a:t>
            </a:r>
          </a:p>
        </p:txBody>
      </p:sp>
      <p:sp>
        <p:nvSpPr>
          <p:cNvPr id="7" name="TextBox 6"/>
          <p:cNvSpPr txBox="1"/>
          <p:nvPr/>
        </p:nvSpPr>
        <p:spPr>
          <a:xfrm>
            <a:off x="9144000" y="292608"/>
            <a:ext cx="2377440" cy="594360"/>
          </a:xfrm>
          <a:prstGeom prst="rect">
            <a:avLst/>
          </a:prstGeom>
          <a:noFill/>
        </p:spPr>
        <p:txBody>
          <a:bodyPr wrap="none">
            <a:spAutoFit/>
          </a:bodyPr>
          <a:lstStyle/>
          <a:p>
            <a:pPr algn="r">
              <a:defRPr sz="1050" b="1">
                <a:solidFill>
                  <a:srgbClr val="94A3B8"/>
                </a:solidFill>
              </a:defRPr>
            </a:pPr>
            <a:r>
              <a:t>SSPU BHILAI</a:t>
            </a:r>
            <a:br/>
            <a:r>
              <a:t>MCA DEPARTMENT</a:t>
            </a:r>
          </a:p>
        </p:txBody>
      </p:sp>
      <p:sp>
        <p:nvSpPr>
          <p:cNvPr id="8" name="TextBox 7"/>
          <p:cNvSpPr txBox="1"/>
          <p:nvPr/>
        </p:nvSpPr>
        <p:spPr>
          <a:xfrm>
            <a:off x="731520" y="6537960"/>
            <a:ext cx="10728655" cy="274320"/>
          </a:xfrm>
          <a:prstGeom prst="rect">
            <a:avLst/>
          </a:prstGeom>
          <a:noFill/>
        </p:spPr>
        <p:txBody>
          <a:bodyPr wrap="none">
            <a:spAutoFit/>
          </a:bodyPr>
          <a:lstStyle/>
          <a:p>
            <a:pPr>
              <a:defRPr sz="850">
                <a:solidFill>
                  <a:srgbClr val="64748B"/>
                </a:solidFill>
              </a:defRPr>
            </a:pPr>
            <a:r>
              <a:t>Ghidora Transport | Online Booking Transport Platform | Amit Kumar Sahu (2526002003) &amp; Raag Patel (2526002048) | Guide: Ms. Divya Jaiswal</a:t>
            </a:r>
          </a:p>
        </p:txBody>
      </p:sp>
      <p:sp>
        <p:nvSpPr>
          <p:cNvPr id="9" name="Rounded Rectangle 8"/>
          <p:cNvSpPr/>
          <p:nvPr/>
        </p:nvSpPr>
        <p:spPr>
          <a:xfrm>
            <a:off x="731520" y="1463040"/>
            <a:ext cx="52120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463040"/>
            <a:ext cx="5212080" cy="10972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691640"/>
            <a:ext cx="4754880" cy="4297680"/>
          </a:xfrm>
          <a:prstGeom prst="rect">
            <a:avLst/>
          </a:prstGeom>
          <a:noFill/>
        </p:spPr>
        <p:txBody>
          <a:bodyPr wrap="square">
            <a:spAutoFit/>
          </a:bodyPr>
          <a:lstStyle/>
          <a:p>
            <a:pPr>
              <a:defRPr sz="1400" b="1">
                <a:solidFill>
                  <a:srgbClr val="1E3A8A"/>
                </a:solidFill>
              </a:defRPr>
            </a:pPr>
            <a:r>
              <a:t>WHY AGILE ITERATIVE MODEL?</a:t>
            </a:r>
          </a:p>
          <a:p>
            <a:pPr>
              <a:spcBef>
                <a:spcPts val="800"/>
              </a:spcBef>
              <a:defRPr sz="1100" b="1">
                <a:solidFill>
                  <a:srgbClr val="2563EB"/>
                </a:solidFill>
              </a:defRPr>
            </a:pPr>
            <a:r>
              <a:t>✔ Modular App Architecture:</a:t>
            </a:r>
          </a:p>
          <a:p>
            <a:pPr>
              <a:spcBef>
                <a:spcPts val="100"/>
              </a:spcBef>
              <a:defRPr sz="1000">
                <a:solidFill>
                  <a:srgbClr val="0F172A"/>
                </a:solidFill>
              </a:defRPr>
            </a:pPr>
            <a:r>
              <a:t>Allowed independent development and testing of standalone Django apps (booking, payments, expenses, quotations).</a:t>
            </a:r>
          </a:p>
          <a:p>
            <a:pPr>
              <a:spcBef>
                <a:spcPts val="800"/>
              </a:spcBef>
              <a:defRPr sz="1100" b="1">
                <a:solidFill>
                  <a:srgbClr val="2563EB"/>
                </a:solidFill>
              </a:defRPr>
            </a:pPr>
            <a:r>
              <a:t>✔ Incremental Feature Delivery:</a:t>
            </a:r>
          </a:p>
          <a:p>
            <a:pPr>
              <a:spcBef>
                <a:spcPts val="100"/>
              </a:spcBef>
              <a:defRPr sz="1000">
                <a:solidFill>
                  <a:srgbClr val="0F172A"/>
                </a:solidFill>
              </a:defRPr>
            </a:pPr>
            <a:r>
              <a:t>Built the core booking form first, then added fare calculation, driver allocation, and toll auditing iteratively.</a:t>
            </a:r>
          </a:p>
          <a:p>
            <a:pPr>
              <a:spcBef>
                <a:spcPts val="800"/>
              </a:spcBef>
              <a:defRPr sz="1100" b="1">
                <a:solidFill>
                  <a:srgbClr val="2563EB"/>
                </a:solidFill>
              </a:defRPr>
            </a:pPr>
            <a:r>
              <a:t>✔ Rapid Feedback Integration:</a:t>
            </a:r>
          </a:p>
          <a:p>
            <a:pPr>
              <a:spcBef>
                <a:spcPts val="100"/>
              </a:spcBef>
              <a:defRPr sz="1000">
                <a:solidFill>
                  <a:srgbClr val="0F172A"/>
                </a:solidFill>
              </a:defRPr>
            </a:pPr>
            <a:r>
              <a:t>Early testing with local users helped refine the booking form and ensure high mobile responsiveness.</a:t>
            </a:r>
          </a:p>
          <a:p>
            <a:pPr>
              <a:spcBef>
                <a:spcPts val="800"/>
              </a:spcBef>
              <a:defRPr sz="1100" b="1">
                <a:solidFill>
                  <a:srgbClr val="2563EB"/>
                </a:solidFill>
              </a:defRPr>
            </a:pPr>
            <a:r>
              <a:t>✔ Continuous Code Testing:</a:t>
            </a:r>
          </a:p>
          <a:p>
            <a:pPr>
              <a:spcBef>
                <a:spcPts val="100"/>
              </a:spcBef>
              <a:defRPr sz="1000">
                <a:solidFill>
                  <a:srgbClr val="0F172A"/>
                </a:solidFill>
              </a:defRPr>
            </a:pPr>
            <a:r>
              <a:t>Every sprint incorporated unit testing on models and cross-browser UI checks, catching bugs early.</a:t>
            </a:r>
          </a:p>
        </p:txBody>
      </p:sp>
      <p:sp>
        <p:nvSpPr>
          <p:cNvPr id="12" name="Rounded Rectangle 11"/>
          <p:cNvSpPr/>
          <p:nvPr/>
        </p:nvSpPr>
        <p:spPr>
          <a:xfrm>
            <a:off x="6217920" y="1463040"/>
            <a:ext cx="5212080" cy="1051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463040"/>
            <a:ext cx="137160" cy="10515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1554480"/>
            <a:ext cx="4846320" cy="868680"/>
          </a:xfrm>
          <a:prstGeom prst="rect">
            <a:avLst/>
          </a:prstGeom>
          <a:noFill/>
        </p:spPr>
        <p:txBody>
          <a:bodyPr wrap="square">
            <a:spAutoFit/>
          </a:bodyPr>
          <a:lstStyle/>
          <a:p>
            <a:pPr>
              <a:defRPr sz="1150" b="1">
                <a:solidFill>
                  <a:srgbClr val="1E3A8A"/>
                </a:solidFill>
              </a:defRPr>
            </a:pPr>
            <a:r>
              <a:t>SPRINT 1: SETUP &amp; DATABASE MODELING</a:t>
            </a:r>
          </a:p>
          <a:p>
            <a:pPr>
              <a:spcBef>
                <a:spcPts val="200"/>
              </a:spcBef>
              <a:defRPr sz="950">
                <a:solidFill>
                  <a:srgbClr val="0F172A"/>
                </a:solidFill>
              </a:defRPr>
            </a:pPr>
            <a:r>
              <a:t>Python/Django initialization, SQLite database modeling for Bookings and Vehicles.</a:t>
            </a:r>
          </a:p>
        </p:txBody>
      </p:sp>
      <p:sp>
        <p:nvSpPr>
          <p:cNvPr id="15" name="Rounded Rectangle 14"/>
          <p:cNvSpPr/>
          <p:nvPr/>
        </p:nvSpPr>
        <p:spPr>
          <a:xfrm>
            <a:off x="6217920" y="2633472"/>
            <a:ext cx="5212080" cy="1051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2633472"/>
            <a:ext cx="137160"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2724912"/>
            <a:ext cx="4846320" cy="868680"/>
          </a:xfrm>
          <a:prstGeom prst="rect">
            <a:avLst/>
          </a:prstGeom>
          <a:noFill/>
        </p:spPr>
        <p:txBody>
          <a:bodyPr wrap="square">
            <a:spAutoFit/>
          </a:bodyPr>
          <a:lstStyle/>
          <a:p>
            <a:pPr>
              <a:defRPr sz="1150" b="1">
                <a:solidFill>
                  <a:srgbClr val="2563EB"/>
                </a:solidFill>
              </a:defRPr>
            </a:pPr>
            <a:r>
              <a:t>SPRINT 2: BOOKING FORM &amp; FARE ENGINE</a:t>
            </a:r>
          </a:p>
          <a:p>
            <a:pPr>
              <a:spcBef>
                <a:spcPts val="200"/>
              </a:spcBef>
              <a:defRPr sz="950">
                <a:solidFill>
                  <a:srgbClr val="0F172A"/>
                </a:solidFill>
              </a:defRPr>
            </a:pPr>
            <a:r>
              <a:t>Online booking form design, pickup/drop location capture, automated fare computation.</a:t>
            </a:r>
          </a:p>
        </p:txBody>
      </p:sp>
      <p:sp>
        <p:nvSpPr>
          <p:cNvPr id="18" name="Rounded Rectangle 17"/>
          <p:cNvSpPr/>
          <p:nvPr/>
        </p:nvSpPr>
        <p:spPr>
          <a:xfrm>
            <a:off x="6217920" y="3803904"/>
            <a:ext cx="5212080" cy="1051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3803904"/>
            <a:ext cx="137160"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3895344"/>
            <a:ext cx="4846320" cy="868680"/>
          </a:xfrm>
          <a:prstGeom prst="rect">
            <a:avLst/>
          </a:prstGeom>
          <a:noFill/>
        </p:spPr>
        <p:txBody>
          <a:bodyPr wrap="square">
            <a:spAutoFit/>
          </a:bodyPr>
          <a:lstStyle/>
          <a:p>
            <a:pPr>
              <a:defRPr sz="1150" b="1">
                <a:solidFill>
                  <a:srgbClr val="0F172A"/>
                </a:solidFill>
              </a:defRPr>
            </a:pPr>
            <a:r>
              <a:t>SPRINT 3: EXPENSE LOGS &amp; ADMIN PANEL</a:t>
            </a:r>
          </a:p>
          <a:p>
            <a:pPr>
              <a:spcBef>
                <a:spcPts val="200"/>
              </a:spcBef>
              <a:defRPr sz="950">
                <a:solidFill>
                  <a:srgbClr val="0F172A"/>
                </a:solidFill>
              </a:defRPr>
            </a:pPr>
            <a:r>
              <a:t>Toll receipt upload mechanism, driver expense auditing, and admin management panel.</a:t>
            </a:r>
          </a:p>
        </p:txBody>
      </p:sp>
      <p:sp>
        <p:nvSpPr>
          <p:cNvPr id="21" name="Rounded Rectangle 20"/>
          <p:cNvSpPr/>
          <p:nvPr/>
        </p:nvSpPr>
        <p:spPr>
          <a:xfrm>
            <a:off x="6217920" y="4974336"/>
            <a:ext cx="5212080" cy="1051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4974336"/>
            <a:ext cx="137160" cy="10515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5065776"/>
            <a:ext cx="4846320" cy="868680"/>
          </a:xfrm>
          <a:prstGeom prst="rect">
            <a:avLst/>
          </a:prstGeom>
          <a:noFill/>
        </p:spPr>
        <p:txBody>
          <a:bodyPr wrap="square">
            <a:spAutoFit/>
          </a:bodyPr>
          <a:lstStyle/>
          <a:p>
            <a:pPr>
              <a:defRPr sz="1150" b="1">
                <a:solidFill>
                  <a:srgbClr val="D97706"/>
                </a:solidFill>
              </a:defRPr>
            </a:pPr>
            <a:r>
              <a:t>SPRINT 4: TESTING, POLISH &amp; RENDER DEPLOY</a:t>
            </a:r>
          </a:p>
          <a:p>
            <a:pPr>
              <a:spcBef>
                <a:spcPts val="200"/>
              </a:spcBef>
              <a:defRPr sz="950">
                <a:solidFill>
                  <a:srgbClr val="0F172A"/>
                </a:solidFill>
              </a:defRPr>
            </a:pPr>
            <a:r>
              <a:t>Mobile responsiveness testing, cross-browser validation, and cloud deployment on Render.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102412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8229600" cy="274320"/>
          </a:xfrm>
          <a:prstGeom prst="rect">
            <a:avLst/>
          </a:prstGeom>
          <a:noFill/>
        </p:spPr>
        <p:txBody>
          <a:bodyPr wrap="square">
            <a:spAutoFit/>
          </a:bodyPr>
          <a:lstStyle/>
          <a:p>
            <a:pPr>
              <a:defRPr sz="1000" b="1">
                <a:solidFill>
                  <a:srgbClr val="D97706"/>
                </a:solidFill>
              </a:defRPr>
            </a:pPr>
            <a:r>
              <a:t>SECTION 4: METHODOLOGY</a:t>
            </a:r>
          </a:p>
        </p:txBody>
      </p:sp>
      <p:sp>
        <p:nvSpPr>
          <p:cNvPr id="6" name="TextBox 5"/>
          <p:cNvSpPr txBox="1"/>
          <p:nvPr/>
        </p:nvSpPr>
        <p:spPr>
          <a:xfrm>
            <a:off x="731520" y="438912"/>
            <a:ext cx="8686800" cy="594360"/>
          </a:xfrm>
          <a:prstGeom prst="rect">
            <a:avLst/>
          </a:prstGeom>
          <a:noFill/>
        </p:spPr>
        <p:txBody>
          <a:bodyPr wrap="square">
            <a:spAutoFit/>
          </a:bodyPr>
          <a:lstStyle/>
          <a:p>
            <a:pPr>
              <a:defRPr sz="2100" b="1">
                <a:solidFill>
                  <a:srgbClr val="FFFFFF"/>
                </a:solidFill>
              </a:defRPr>
            </a:pPr>
            <a:r>
              <a:t>Project Methodology: Phased Execution Lifecycle</a:t>
            </a:r>
          </a:p>
        </p:txBody>
      </p:sp>
      <p:sp>
        <p:nvSpPr>
          <p:cNvPr id="7" name="TextBox 6"/>
          <p:cNvSpPr txBox="1"/>
          <p:nvPr/>
        </p:nvSpPr>
        <p:spPr>
          <a:xfrm>
            <a:off x="9144000" y="292608"/>
            <a:ext cx="2377440" cy="594360"/>
          </a:xfrm>
          <a:prstGeom prst="rect">
            <a:avLst/>
          </a:prstGeom>
          <a:noFill/>
        </p:spPr>
        <p:txBody>
          <a:bodyPr wrap="none">
            <a:spAutoFit/>
          </a:bodyPr>
          <a:lstStyle/>
          <a:p>
            <a:pPr algn="r">
              <a:defRPr sz="1050" b="1">
                <a:solidFill>
                  <a:srgbClr val="94A3B8"/>
                </a:solidFill>
              </a:defRPr>
            </a:pPr>
            <a:r>
              <a:t>SSPU BHILAI</a:t>
            </a:r>
            <a:br/>
            <a:r>
              <a:t>MCA DEPARTMENT</a:t>
            </a:r>
          </a:p>
        </p:txBody>
      </p:sp>
      <p:sp>
        <p:nvSpPr>
          <p:cNvPr id="8" name="TextBox 7"/>
          <p:cNvSpPr txBox="1"/>
          <p:nvPr/>
        </p:nvSpPr>
        <p:spPr>
          <a:xfrm>
            <a:off x="731520" y="6537960"/>
            <a:ext cx="10728655" cy="274320"/>
          </a:xfrm>
          <a:prstGeom prst="rect">
            <a:avLst/>
          </a:prstGeom>
          <a:noFill/>
        </p:spPr>
        <p:txBody>
          <a:bodyPr wrap="none">
            <a:spAutoFit/>
          </a:bodyPr>
          <a:lstStyle/>
          <a:p>
            <a:pPr>
              <a:defRPr sz="850">
                <a:solidFill>
                  <a:srgbClr val="64748B"/>
                </a:solidFill>
              </a:defRPr>
            </a:pPr>
            <a:r>
              <a:t>Ghidora Transport | Online Booking Transport Platform | Amit Kumar Sahu (2526002003) &amp; Raag Patel (2526002048) | Guide: Ms. Divya Jaiswal</a:t>
            </a:r>
          </a:p>
        </p:txBody>
      </p:sp>
      <p:sp>
        <p:nvSpPr>
          <p:cNvPr id="9" name="Rounded Rectangle 8"/>
          <p:cNvSpPr/>
          <p:nvPr/>
        </p:nvSpPr>
        <p:spPr>
          <a:xfrm>
            <a:off x="731520" y="1463040"/>
            <a:ext cx="10728655" cy="868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14400" y="1572768"/>
            <a:ext cx="2926080" cy="64008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PHASE 1: REQUIREMENT ANALYSIS &amp; SYNOPSIS</a:t>
            </a:r>
          </a:p>
        </p:txBody>
      </p:sp>
      <p:sp>
        <p:nvSpPr>
          <p:cNvPr id="11" name="TextBox 10"/>
          <p:cNvSpPr txBox="1"/>
          <p:nvPr/>
        </p:nvSpPr>
        <p:spPr>
          <a:xfrm>
            <a:off x="3977639" y="1536192"/>
            <a:ext cx="7315200" cy="731520"/>
          </a:xfrm>
          <a:prstGeom prst="rect">
            <a:avLst/>
          </a:prstGeom>
          <a:noFill/>
        </p:spPr>
        <p:txBody>
          <a:bodyPr wrap="square">
            <a:spAutoFit/>
          </a:bodyPr>
          <a:lstStyle/>
          <a:p>
            <a:pPr>
              <a:defRPr sz="1050">
                <a:solidFill>
                  <a:srgbClr val="0F172A"/>
                </a:solidFill>
              </a:defRPr>
            </a:pPr>
            <a:r>
              <a:t>Analyzed manual booking challenges in local transport. Prepared Project Synopsis, defined hardware/software requirements, and established core objectives.</a:t>
            </a:r>
          </a:p>
        </p:txBody>
      </p:sp>
      <p:sp>
        <p:nvSpPr>
          <p:cNvPr id="12" name="Rounded Rectangle 11"/>
          <p:cNvSpPr/>
          <p:nvPr/>
        </p:nvSpPr>
        <p:spPr>
          <a:xfrm>
            <a:off x="731520" y="2423160"/>
            <a:ext cx="10728655" cy="868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14400" y="2532888"/>
            <a:ext cx="2926080" cy="6400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PHASE 2: ARCHITECTURAL &amp; DATABASE DESIGN</a:t>
            </a:r>
          </a:p>
        </p:txBody>
      </p:sp>
      <p:sp>
        <p:nvSpPr>
          <p:cNvPr id="14" name="TextBox 13"/>
          <p:cNvSpPr txBox="1"/>
          <p:nvPr/>
        </p:nvSpPr>
        <p:spPr>
          <a:xfrm>
            <a:off x="3977639" y="2496312"/>
            <a:ext cx="7315200" cy="731520"/>
          </a:xfrm>
          <a:prstGeom prst="rect">
            <a:avLst/>
          </a:prstGeom>
          <a:noFill/>
        </p:spPr>
        <p:txBody>
          <a:bodyPr wrap="square">
            <a:spAutoFit/>
          </a:bodyPr>
          <a:lstStyle/>
          <a:p>
            <a:pPr>
              <a:defRPr sz="1050">
                <a:solidFill>
                  <a:srgbClr val="0F172A"/>
                </a:solidFill>
              </a:defRPr>
            </a:pPr>
            <a:r>
              <a:t>Designed Django MVT structure, normalized relational SQLite database tables (tbl_Booking, tbl_Vehicle, tbl_Expense), and drew ER and DFD diagrams.</a:t>
            </a:r>
          </a:p>
        </p:txBody>
      </p:sp>
      <p:sp>
        <p:nvSpPr>
          <p:cNvPr id="15" name="Rounded Rectangle 14"/>
          <p:cNvSpPr/>
          <p:nvPr/>
        </p:nvSpPr>
        <p:spPr>
          <a:xfrm>
            <a:off x="731520" y="3383280"/>
            <a:ext cx="10728655" cy="868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14400" y="3493008"/>
            <a:ext cx="2926080" cy="64008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PHASE 3: IMPLEMENTATION &amp; FRONTEND DESIGN</a:t>
            </a:r>
          </a:p>
        </p:txBody>
      </p:sp>
      <p:sp>
        <p:nvSpPr>
          <p:cNvPr id="17" name="TextBox 16"/>
          <p:cNvSpPr txBox="1"/>
          <p:nvPr/>
        </p:nvSpPr>
        <p:spPr>
          <a:xfrm>
            <a:off x="3977639" y="3456432"/>
            <a:ext cx="7315200" cy="731520"/>
          </a:xfrm>
          <a:prstGeom prst="rect">
            <a:avLst/>
          </a:prstGeom>
          <a:noFill/>
        </p:spPr>
        <p:txBody>
          <a:bodyPr wrap="square">
            <a:spAutoFit/>
          </a:bodyPr>
          <a:lstStyle/>
          <a:p>
            <a:pPr>
              <a:defRPr sz="1050">
                <a:solidFill>
                  <a:srgbClr val="0F172A"/>
                </a:solidFill>
              </a:defRPr>
            </a:pPr>
            <a:r>
              <a:t>Developed backend using Python &amp; Django. Created responsive frontend templates with HTML5, CSS3, and JavaScript with instant fare calculation.</a:t>
            </a:r>
          </a:p>
        </p:txBody>
      </p:sp>
      <p:sp>
        <p:nvSpPr>
          <p:cNvPr id="18" name="Rounded Rectangle 17"/>
          <p:cNvSpPr/>
          <p:nvPr/>
        </p:nvSpPr>
        <p:spPr>
          <a:xfrm>
            <a:off x="731520" y="4343400"/>
            <a:ext cx="10728655" cy="868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4400" y="4453128"/>
            <a:ext cx="2926080" cy="64008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PHASE 4: TESTING &amp; VALIDATION</a:t>
            </a:r>
          </a:p>
        </p:txBody>
      </p:sp>
      <p:sp>
        <p:nvSpPr>
          <p:cNvPr id="20" name="TextBox 19"/>
          <p:cNvSpPr txBox="1"/>
          <p:nvPr/>
        </p:nvSpPr>
        <p:spPr>
          <a:xfrm>
            <a:off x="3977639" y="4416552"/>
            <a:ext cx="7315200" cy="731520"/>
          </a:xfrm>
          <a:prstGeom prst="rect">
            <a:avLst/>
          </a:prstGeom>
          <a:noFill/>
        </p:spPr>
        <p:txBody>
          <a:bodyPr wrap="square">
            <a:spAutoFit/>
          </a:bodyPr>
          <a:lstStyle/>
          <a:p>
            <a:pPr>
              <a:defRPr sz="1050">
                <a:solidFill>
                  <a:srgbClr val="0F172A"/>
                </a:solidFill>
              </a:defRPr>
            </a:pPr>
            <a:r>
              <a:t>Executed Unit Testing on Django models, verified form validation and CSRF security, tested mobile responsiveness on Chrome, Edge, and smartphones.</a:t>
            </a:r>
          </a:p>
        </p:txBody>
      </p:sp>
      <p:sp>
        <p:nvSpPr>
          <p:cNvPr id="21" name="Rounded Rectangle 20"/>
          <p:cNvSpPr/>
          <p:nvPr/>
        </p:nvSpPr>
        <p:spPr>
          <a:xfrm>
            <a:off x="731520" y="5303520"/>
            <a:ext cx="10728655" cy="868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4400" y="5413248"/>
            <a:ext cx="2926080" cy="64008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PHASE 5: DEPLOYMENT ON RENDER</a:t>
            </a:r>
          </a:p>
        </p:txBody>
      </p:sp>
      <p:sp>
        <p:nvSpPr>
          <p:cNvPr id="23" name="TextBox 22"/>
          <p:cNvSpPr txBox="1"/>
          <p:nvPr/>
        </p:nvSpPr>
        <p:spPr>
          <a:xfrm>
            <a:off x="3977639" y="5376672"/>
            <a:ext cx="7315200" cy="731520"/>
          </a:xfrm>
          <a:prstGeom prst="rect">
            <a:avLst/>
          </a:prstGeom>
          <a:noFill/>
        </p:spPr>
        <p:txBody>
          <a:bodyPr wrap="square">
            <a:spAutoFit/>
          </a:bodyPr>
          <a:lstStyle/>
          <a:p>
            <a:pPr>
              <a:defRPr sz="1050">
                <a:solidFill>
                  <a:srgbClr val="0F172A"/>
                </a:solidFill>
              </a:defRPr>
            </a:pPr>
            <a:r>
              <a:t>Configured Procfile, requirements.txt, and deployed project live on Render cloud hosting with Git/GitHub version control.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102412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8229600" cy="274320"/>
          </a:xfrm>
          <a:prstGeom prst="rect">
            <a:avLst/>
          </a:prstGeom>
          <a:noFill/>
        </p:spPr>
        <p:txBody>
          <a:bodyPr wrap="square">
            <a:spAutoFit/>
          </a:bodyPr>
          <a:lstStyle/>
          <a:p>
            <a:pPr>
              <a:defRPr sz="1000" b="1">
                <a:solidFill>
                  <a:srgbClr val="D97706"/>
                </a:solidFill>
              </a:defRPr>
            </a:pPr>
            <a:r>
              <a:t>SECTION 4: METHODOLOGY</a:t>
            </a:r>
          </a:p>
        </p:txBody>
      </p:sp>
      <p:sp>
        <p:nvSpPr>
          <p:cNvPr id="6" name="TextBox 5"/>
          <p:cNvSpPr txBox="1"/>
          <p:nvPr/>
        </p:nvSpPr>
        <p:spPr>
          <a:xfrm>
            <a:off x="731520" y="438912"/>
            <a:ext cx="8686800" cy="594360"/>
          </a:xfrm>
          <a:prstGeom prst="rect">
            <a:avLst/>
          </a:prstGeom>
          <a:noFill/>
        </p:spPr>
        <p:txBody>
          <a:bodyPr wrap="square">
            <a:spAutoFit/>
          </a:bodyPr>
          <a:lstStyle/>
          <a:p>
            <a:pPr>
              <a:defRPr sz="2100" b="1">
                <a:solidFill>
                  <a:srgbClr val="FFFFFF"/>
                </a:solidFill>
              </a:defRPr>
            </a:pPr>
            <a:r>
              <a:t>Testing, Validation &amp; Quality Assurance</a:t>
            </a:r>
          </a:p>
        </p:txBody>
      </p:sp>
      <p:sp>
        <p:nvSpPr>
          <p:cNvPr id="7" name="TextBox 6"/>
          <p:cNvSpPr txBox="1"/>
          <p:nvPr/>
        </p:nvSpPr>
        <p:spPr>
          <a:xfrm>
            <a:off x="9144000" y="292608"/>
            <a:ext cx="2377440" cy="594360"/>
          </a:xfrm>
          <a:prstGeom prst="rect">
            <a:avLst/>
          </a:prstGeom>
          <a:noFill/>
        </p:spPr>
        <p:txBody>
          <a:bodyPr wrap="none">
            <a:spAutoFit/>
          </a:bodyPr>
          <a:lstStyle/>
          <a:p>
            <a:pPr algn="r">
              <a:defRPr sz="1050" b="1">
                <a:solidFill>
                  <a:srgbClr val="94A3B8"/>
                </a:solidFill>
              </a:defRPr>
            </a:pPr>
            <a:r>
              <a:t>SSPU BHILAI</a:t>
            </a:r>
            <a:br/>
            <a:r>
              <a:t>MCA DEPARTMENT</a:t>
            </a:r>
          </a:p>
        </p:txBody>
      </p:sp>
      <p:sp>
        <p:nvSpPr>
          <p:cNvPr id="8" name="TextBox 7"/>
          <p:cNvSpPr txBox="1"/>
          <p:nvPr/>
        </p:nvSpPr>
        <p:spPr>
          <a:xfrm>
            <a:off x="731520" y="6537960"/>
            <a:ext cx="10728655" cy="274320"/>
          </a:xfrm>
          <a:prstGeom prst="rect">
            <a:avLst/>
          </a:prstGeom>
          <a:noFill/>
        </p:spPr>
        <p:txBody>
          <a:bodyPr wrap="none">
            <a:spAutoFit/>
          </a:bodyPr>
          <a:lstStyle/>
          <a:p>
            <a:pPr>
              <a:defRPr sz="850">
                <a:solidFill>
                  <a:srgbClr val="64748B"/>
                </a:solidFill>
              </a:defRPr>
            </a:pPr>
            <a:r>
              <a:t>Ghidora Transport | Online Booking Transport Platform | Amit Kumar Sahu (2526002003) &amp; Raag Patel (2526002048) | Guide: Ms. Divya Jaiswal</a:t>
            </a:r>
          </a:p>
        </p:txBody>
      </p:sp>
      <p:sp>
        <p:nvSpPr>
          <p:cNvPr id="9" name="Rounded Rectangle 8"/>
          <p:cNvSpPr/>
          <p:nvPr/>
        </p:nvSpPr>
        <p:spPr>
          <a:xfrm>
            <a:off x="731520" y="1463040"/>
            <a:ext cx="5212080" cy="1463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463040"/>
            <a:ext cx="5212080" cy="7315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572768"/>
            <a:ext cx="4846320" cy="1234440"/>
          </a:xfrm>
          <a:prstGeom prst="rect">
            <a:avLst/>
          </a:prstGeom>
          <a:noFill/>
        </p:spPr>
        <p:txBody>
          <a:bodyPr wrap="square">
            <a:spAutoFit/>
          </a:bodyPr>
          <a:lstStyle/>
          <a:p>
            <a:pPr>
              <a:defRPr sz="1300" b="1">
                <a:solidFill>
                  <a:srgbClr val="1E3A8A"/>
                </a:solidFill>
              </a:defRPr>
            </a:pPr>
            <a:r>
              <a:t>🧪 Unit &amp; Model Testing</a:t>
            </a:r>
          </a:p>
          <a:p>
            <a:pPr>
              <a:spcBef>
                <a:spcPts val="300"/>
              </a:spcBef>
              <a:defRPr sz="1050">
                <a:solidFill>
                  <a:srgbClr val="0F172A"/>
                </a:solidFill>
              </a:defRPr>
            </a:pPr>
            <a:r>
              <a:t>Tested Django models (Booking, Vehicle, Expense) for field data types, primary keys, null constraints, and auto-timestamps.</a:t>
            </a:r>
          </a:p>
        </p:txBody>
      </p:sp>
      <p:sp>
        <p:nvSpPr>
          <p:cNvPr id="12" name="Rounded Rectangle 11"/>
          <p:cNvSpPr/>
          <p:nvPr/>
        </p:nvSpPr>
        <p:spPr>
          <a:xfrm>
            <a:off x="6217920" y="1463040"/>
            <a:ext cx="5212080" cy="1463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463040"/>
            <a:ext cx="5212080"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572768"/>
            <a:ext cx="4846320" cy="1234440"/>
          </a:xfrm>
          <a:prstGeom prst="rect">
            <a:avLst/>
          </a:prstGeom>
          <a:noFill/>
        </p:spPr>
        <p:txBody>
          <a:bodyPr wrap="square">
            <a:spAutoFit/>
          </a:bodyPr>
          <a:lstStyle/>
          <a:p>
            <a:pPr>
              <a:defRPr sz="1300" b="1">
                <a:solidFill>
                  <a:srgbClr val="2563EB"/>
                </a:solidFill>
              </a:defRPr>
            </a:pPr>
            <a:r>
              <a:t>🧪 Form Validation &amp; Input Checks</a:t>
            </a:r>
          </a:p>
          <a:p>
            <a:pPr>
              <a:spcBef>
                <a:spcPts val="300"/>
              </a:spcBef>
              <a:defRPr sz="1050">
                <a:solidFill>
                  <a:srgbClr val="0F172A"/>
                </a:solidFill>
              </a:defRPr>
            </a:pPr>
            <a:r>
              <a:t>Verified required fields (customer name, 10-digit phone, valid locations, dates) and client-side JavaScript prevention of empty submissions.</a:t>
            </a:r>
          </a:p>
        </p:txBody>
      </p:sp>
      <p:sp>
        <p:nvSpPr>
          <p:cNvPr id="15" name="Rounded Rectangle 14"/>
          <p:cNvSpPr/>
          <p:nvPr/>
        </p:nvSpPr>
        <p:spPr>
          <a:xfrm>
            <a:off x="731520" y="3063240"/>
            <a:ext cx="5212080" cy="1463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3063240"/>
            <a:ext cx="5212080" cy="7315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172968"/>
            <a:ext cx="4846320" cy="1234440"/>
          </a:xfrm>
          <a:prstGeom prst="rect">
            <a:avLst/>
          </a:prstGeom>
          <a:noFill/>
        </p:spPr>
        <p:txBody>
          <a:bodyPr wrap="square">
            <a:spAutoFit/>
          </a:bodyPr>
          <a:lstStyle/>
          <a:p>
            <a:pPr>
              <a:defRPr sz="1300" b="1">
                <a:solidFill>
                  <a:srgbClr val="0F172A"/>
                </a:solidFill>
              </a:defRPr>
            </a:pPr>
            <a:r>
              <a:t>🧪 Fare Calculation Verification</a:t>
            </a:r>
          </a:p>
          <a:p>
            <a:pPr>
              <a:spcBef>
                <a:spcPts val="300"/>
              </a:spcBef>
              <a:defRPr sz="1050">
                <a:solidFill>
                  <a:srgbClr val="0F172A"/>
                </a:solidFill>
              </a:defRPr>
            </a:pPr>
            <a:r>
              <a:t>Tested fare computation algorithm across various distances and vehicle types to ensure mathematically consistent rates.</a:t>
            </a:r>
          </a:p>
        </p:txBody>
      </p:sp>
      <p:sp>
        <p:nvSpPr>
          <p:cNvPr id="18" name="Rounded Rectangle 17"/>
          <p:cNvSpPr/>
          <p:nvPr/>
        </p:nvSpPr>
        <p:spPr>
          <a:xfrm>
            <a:off x="6217920" y="3063240"/>
            <a:ext cx="5212080" cy="1463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3063240"/>
            <a:ext cx="521208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3172968"/>
            <a:ext cx="4846320" cy="1234440"/>
          </a:xfrm>
          <a:prstGeom prst="rect">
            <a:avLst/>
          </a:prstGeom>
          <a:noFill/>
        </p:spPr>
        <p:txBody>
          <a:bodyPr wrap="square">
            <a:spAutoFit/>
          </a:bodyPr>
          <a:lstStyle/>
          <a:p>
            <a:pPr>
              <a:defRPr sz="1300" b="1">
                <a:solidFill>
                  <a:srgbClr val="D97706"/>
                </a:solidFill>
              </a:defRPr>
            </a:pPr>
            <a:r>
              <a:t>🧪 Security &amp; CSRF Protection</a:t>
            </a:r>
          </a:p>
          <a:p>
            <a:pPr>
              <a:spcBef>
                <a:spcPts val="300"/>
              </a:spcBef>
              <a:defRPr sz="1050">
                <a:solidFill>
                  <a:srgbClr val="0F172A"/>
                </a:solidFill>
              </a:defRPr>
            </a:pPr>
            <a:r>
              <a:t>Ensured all form submissions include Django CSRF cryptographic tokens to prevent Cross-Site Request Forgery attacks.</a:t>
            </a:r>
          </a:p>
        </p:txBody>
      </p:sp>
      <p:sp>
        <p:nvSpPr>
          <p:cNvPr id="21" name="Rounded Rectangle 20"/>
          <p:cNvSpPr/>
          <p:nvPr/>
        </p:nvSpPr>
        <p:spPr>
          <a:xfrm>
            <a:off x="731520" y="4663440"/>
            <a:ext cx="5212080" cy="1463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 y="4663440"/>
            <a:ext cx="5212080" cy="73152"/>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773168"/>
            <a:ext cx="4846320" cy="1234440"/>
          </a:xfrm>
          <a:prstGeom prst="rect">
            <a:avLst/>
          </a:prstGeom>
          <a:noFill/>
        </p:spPr>
        <p:txBody>
          <a:bodyPr wrap="square">
            <a:spAutoFit/>
          </a:bodyPr>
          <a:lstStyle/>
          <a:p>
            <a:pPr>
              <a:defRPr sz="1300" b="1">
                <a:solidFill>
                  <a:srgbClr val="7E22CE"/>
                </a:solidFill>
              </a:defRPr>
            </a:pPr>
            <a:r>
              <a:t>🧪 Cross-Device Responsive Testing</a:t>
            </a:r>
          </a:p>
          <a:p>
            <a:pPr>
              <a:spcBef>
                <a:spcPts val="300"/>
              </a:spcBef>
              <a:defRPr sz="1050">
                <a:solidFill>
                  <a:srgbClr val="0F172A"/>
                </a:solidFill>
              </a:defRPr>
            </a:pPr>
            <a:r>
              <a:t>Validated layout stability across Google Chrome, Firefox, Microsoft Edge, and Android mobile screens (360px to 1920px viewports).</a:t>
            </a:r>
          </a:p>
        </p:txBody>
      </p:sp>
      <p:sp>
        <p:nvSpPr>
          <p:cNvPr id="24" name="Rounded Rectangle 23"/>
          <p:cNvSpPr/>
          <p:nvPr/>
        </p:nvSpPr>
        <p:spPr>
          <a:xfrm>
            <a:off x="6217920" y="4663440"/>
            <a:ext cx="5212080" cy="1463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4663440"/>
            <a:ext cx="521208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4773168"/>
            <a:ext cx="4846320" cy="1234440"/>
          </a:xfrm>
          <a:prstGeom prst="rect">
            <a:avLst/>
          </a:prstGeom>
          <a:noFill/>
        </p:spPr>
        <p:txBody>
          <a:bodyPr wrap="square">
            <a:spAutoFit/>
          </a:bodyPr>
          <a:lstStyle/>
          <a:p>
            <a:pPr>
              <a:defRPr sz="1300" b="1">
                <a:solidFill>
                  <a:srgbClr val="10B981"/>
                </a:solidFill>
              </a:defRPr>
            </a:pPr>
            <a:r>
              <a:t>🧪 User Acceptance Testing (UAT)</a:t>
            </a:r>
          </a:p>
          <a:p>
            <a:pPr>
              <a:spcBef>
                <a:spcPts val="300"/>
              </a:spcBef>
              <a:defRPr sz="1050">
                <a:solidFill>
                  <a:srgbClr val="0F172A"/>
                </a:solidFill>
              </a:defRPr>
            </a:pPr>
            <a:r>
              <a:t>Tested complete user journey: entering booking info, seeing calculated fare, submitting form, and verifying database record in SQLite.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102412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8229600" cy="274320"/>
          </a:xfrm>
          <a:prstGeom prst="rect">
            <a:avLst/>
          </a:prstGeom>
          <a:noFill/>
        </p:spPr>
        <p:txBody>
          <a:bodyPr wrap="square">
            <a:spAutoFit/>
          </a:bodyPr>
          <a:lstStyle/>
          <a:p>
            <a:pPr>
              <a:defRPr sz="1000" b="1">
                <a:solidFill>
                  <a:srgbClr val="D97706"/>
                </a:solidFill>
              </a:defRPr>
            </a:pPr>
            <a:r>
              <a:t>SECTION 4: METHODOLOGY</a:t>
            </a:r>
          </a:p>
        </p:txBody>
      </p:sp>
      <p:sp>
        <p:nvSpPr>
          <p:cNvPr id="6" name="TextBox 5"/>
          <p:cNvSpPr txBox="1"/>
          <p:nvPr/>
        </p:nvSpPr>
        <p:spPr>
          <a:xfrm>
            <a:off x="731520" y="438912"/>
            <a:ext cx="8686800" cy="594360"/>
          </a:xfrm>
          <a:prstGeom prst="rect">
            <a:avLst/>
          </a:prstGeom>
          <a:noFill/>
        </p:spPr>
        <p:txBody>
          <a:bodyPr wrap="square">
            <a:spAutoFit/>
          </a:bodyPr>
          <a:lstStyle/>
          <a:p>
            <a:pPr>
              <a:defRPr sz="2100" b="1">
                <a:solidFill>
                  <a:srgbClr val="FFFFFF"/>
                </a:solidFill>
              </a:defRPr>
            </a:pPr>
            <a:r>
              <a:t>Future Scope of the Project</a:t>
            </a:r>
          </a:p>
        </p:txBody>
      </p:sp>
      <p:sp>
        <p:nvSpPr>
          <p:cNvPr id="7" name="TextBox 6"/>
          <p:cNvSpPr txBox="1"/>
          <p:nvPr/>
        </p:nvSpPr>
        <p:spPr>
          <a:xfrm>
            <a:off x="9144000" y="292608"/>
            <a:ext cx="2377440" cy="594360"/>
          </a:xfrm>
          <a:prstGeom prst="rect">
            <a:avLst/>
          </a:prstGeom>
          <a:noFill/>
        </p:spPr>
        <p:txBody>
          <a:bodyPr wrap="none">
            <a:spAutoFit/>
          </a:bodyPr>
          <a:lstStyle/>
          <a:p>
            <a:pPr algn="r">
              <a:defRPr sz="1050" b="1">
                <a:solidFill>
                  <a:srgbClr val="94A3B8"/>
                </a:solidFill>
              </a:defRPr>
            </a:pPr>
            <a:r>
              <a:t>SSPU BHILAI</a:t>
            </a:r>
            <a:br/>
            <a:r>
              <a:t>MCA DEPARTMENT</a:t>
            </a:r>
          </a:p>
        </p:txBody>
      </p:sp>
      <p:sp>
        <p:nvSpPr>
          <p:cNvPr id="8" name="TextBox 7"/>
          <p:cNvSpPr txBox="1"/>
          <p:nvPr/>
        </p:nvSpPr>
        <p:spPr>
          <a:xfrm>
            <a:off x="731520" y="6537960"/>
            <a:ext cx="10728655" cy="274320"/>
          </a:xfrm>
          <a:prstGeom prst="rect">
            <a:avLst/>
          </a:prstGeom>
          <a:noFill/>
        </p:spPr>
        <p:txBody>
          <a:bodyPr wrap="none">
            <a:spAutoFit/>
          </a:bodyPr>
          <a:lstStyle/>
          <a:p>
            <a:pPr>
              <a:defRPr sz="850">
                <a:solidFill>
                  <a:srgbClr val="64748B"/>
                </a:solidFill>
              </a:defRPr>
            </a:pPr>
            <a:r>
              <a:t>Ghidora Transport | Online Booking Transport Platform | Amit Kumar Sahu (2526002003) &amp; Raag Patel (2526002048) | Guide: Ms. Divya Jaiswal</a:t>
            </a:r>
          </a:p>
        </p:txBody>
      </p:sp>
      <p:sp>
        <p:nvSpPr>
          <p:cNvPr id="9" name="Rounded Rectangle 8"/>
          <p:cNvSpPr/>
          <p:nvPr/>
        </p:nvSpPr>
        <p:spPr>
          <a:xfrm>
            <a:off x="731520" y="1463040"/>
            <a:ext cx="256032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463040"/>
            <a:ext cx="2560320" cy="914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1600200"/>
            <a:ext cx="2331720" cy="1965960"/>
          </a:xfrm>
          <a:prstGeom prst="rect">
            <a:avLst/>
          </a:prstGeom>
          <a:noFill/>
        </p:spPr>
        <p:txBody>
          <a:bodyPr wrap="square">
            <a:spAutoFit/>
          </a:bodyPr>
          <a:lstStyle/>
          <a:p>
            <a:pPr>
              <a:defRPr sz="1100" b="1">
                <a:solidFill>
                  <a:srgbClr val="1E3A8A"/>
                </a:solidFill>
              </a:defRPr>
            </a:pPr>
            <a:r>
              <a:t>🚀 Automatic Distance Calculation</a:t>
            </a:r>
          </a:p>
          <a:p>
            <a:pPr>
              <a:spcBef>
                <a:spcPts val="600"/>
              </a:spcBef>
              <a:defRPr sz="950">
                <a:solidFill>
                  <a:srgbClr val="0F172A"/>
                </a:solidFill>
              </a:defRPr>
            </a:pPr>
            <a:r>
              <a:t>Google Maps or another map service can be connected to automatically calculate the distance between pickup and drop locations.</a:t>
            </a:r>
          </a:p>
        </p:txBody>
      </p:sp>
      <p:sp>
        <p:nvSpPr>
          <p:cNvPr id="12" name="Rounded Rectangle 11"/>
          <p:cNvSpPr/>
          <p:nvPr/>
        </p:nvSpPr>
        <p:spPr>
          <a:xfrm>
            <a:off x="3429000" y="1463040"/>
            <a:ext cx="256032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29000" y="1463040"/>
            <a:ext cx="2560320"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38728" y="1600200"/>
            <a:ext cx="2331720" cy="1965960"/>
          </a:xfrm>
          <a:prstGeom prst="rect">
            <a:avLst/>
          </a:prstGeom>
          <a:noFill/>
        </p:spPr>
        <p:txBody>
          <a:bodyPr wrap="square">
            <a:spAutoFit/>
          </a:bodyPr>
          <a:lstStyle/>
          <a:p>
            <a:pPr>
              <a:defRPr sz="1100" b="1">
                <a:solidFill>
                  <a:srgbClr val="2563EB"/>
                </a:solidFill>
              </a:defRPr>
            </a:pPr>
            <a:r>
              <a:t>🚀 Online Payment Integration</a:t>
            </a:r>
          </a:p>
          <a:p>
            <a:pPr>
              <a:spcBef>
                <a:spcPts val="600"/>
              </a:spcBef>
              <a:defRPr sz="950">
                <a:solidFill>
                  <a:srgbClr val="0F172A"/>
                </a:solidFill>
              </a:defRPr>
            </a:pPr>
            <a:r>
              <a:t>Online payment options such as UPI, debit/credit cards, and net banking can be added for instant settlements.</a:t>
            </a:r>
          </a:p>
        </p:txBody>
      </p:sp>
      <p:sp>
        <p:nvSpPr>
          <p:cNvPr id="15" name="Rounded Rectangle 14"/>
          <p:cNvSpPr/>
          <p:nvPr/>
        </p:nvSpPr>
        <p:spPr>
          <a:xfrm>
            <a:off x="6126480" y="1463040"/>
            <a:ext cx="256032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26480" y="1463040"/>
            <a:ext cx="2560320" cy="9144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36208" y="1600200"/>
            <a:ext cx="2331720" cy="1965960"/>
          </a:xfrm>
          <a:prstGeom prst="rect">
            <a:avLst/>
          </a:prstGeom>
          <a:noFill/>
        </p:spPr>
        <p:txBody>
          <a:bodyPr wrap="square">
            <a:spAutoFit/>
          </a:bodyPr>
          <a:lstStyle/>
          <a:p>
            <a:pPr>
              <a:defRPr sz="1100" b="1">
                <a:solidFill>
                  <a:srgbClr val="0F172A"/>
                </a:solidFill>
              </a:defRPr>
            </a:pPr>
            <a:r>
              <a:t>🚀 WhatsApp Notification</a:t>
            </a:r>
          </a:p>
          <a:p>
            <a:pPr>
              <a:spcBef>
                <a:spcPts val="600"/>
              </a:spcBef>
              <a:defRPr sz="950">
                <a:solidFill>
                  <a:srgbClr val="0F172A"/>
                </a:solidFill>
              </a:defRPr>
            </a:pPr>
            <a:r>
              <a:t>WhatsApp can be connected via Cloud API to send automated booking confirmations and driver details to customers.</a:t>
            </a:r>
          </a:p>
        </p:txBody>
      </p:sp>
      <p:sp>
        <p:nvSpPr>
          <p:cNvPr id="18" name="Rounded Rectangle 17"/>
          <p:cNvSpPr/>
          <p:nvPr/>
        </p:nvSpPr>
        <p:spPr>
          <a:xfrm>
            <a:off x="8823960" y="1463040"/>
            <a:ext cx="256032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823960" y="1463040"/>
            <a:ext cx="2560320" cy="914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33688" y="1600200"/>
            <a:ext cx="2331720" cy="1965960"/>
          </a:xfrm>
          <a:prstGeom prst="rect">
            <a:avLst/>
          </a:prstGeom>
          <a:noFill/>
        </p:spPr>
        <p:txBody>
          <a:bodyPr wrap="square">
            <a:spAutoFit/>
          </a:bodyPr>
          <a:lstStyle/>
          <a:p>
            <a:pPr>
              <a:defRPr sz="1100" b="1">
                <a:solidFill>
                  <a:srgbClr val="D97706"/>
                </a:solidFill>
              </a:defRPr>
            </a:pPr>
            <a:r>
              <a:t>🚀 Live GPS Tracking</a:t>
            </a:r>
          </a:p>
          <a:p>
            <a:pPr>
              <a:spcBef>
                <a:spcPts val="600"/>
              </a:spcBef>
              <a:defRPr sz="950">
                <a:solidFill>
                  <a:srgbClr val="0F172A"/>
                </a:solidFill>
              </a:defRPr>
            </a:pPr>
            <a:r>
              <a:t>GPS hardware tracking can be integrated so that customers can see the real-time live location of their transport vehicle.</a:t>
            </a:r>
          </a:p>
        </p:txBody>
      </p:sp>
      <p:sp>
        <p:nvSpPr>
          <p:cNvPr id="21" name="Rounded Rectangle 20"/>
          <p:cNvSpPr/>
          <p:nvPr/>
        </p:nvSpPr>
        <p:spPr>
          <a:xfrm>
            <a:off x="731520" y="3794760"/>
            <a:ext cx="256032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 y="3794760"/>
            <a:ext cx="2560320" cy="914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248" y="3931920"/>
            <a:ext cx="2331720" cy="1965960"/>
          </a:xfrm>
          <a:prstGeom prst="rect">
            <a:avLst/>
          </a:prstGeom>
          <a:noFill/>
        </p:spPr>
        <p:txBody>
          <a:bodyPr wrap="square">
            <a:spAutoFit/>
          </a:bodyPr>
          <a:lstStyle/>
          <a:p>
            <a:pPr>
              <a:defRPr sz="1100" b="1">
                <a:solidFill>
                  <a:srgbClr val="10B981"/>
                </a:solidFill>
              </a:defRPr>
            </a:pPr>
            <a:r>
              <a:t>🚀 Customer Login System</a:t>
            </a:r>
          </a:p>
          <a:p>
            <a:pPr>
              <a:spcBef>
                <a:spcPts val="600"/>
              </a:spcBef>
              <a:defRPr sz="950">
                <a:solidFill>
                  <a:srgbClr val="0F172A"/>
                </a:solidFill>
              </a:defRPr>
            </a:pPr>
            <a:r>
              <a:t>A dedicated customer authentication and profile system so users can check their booking history and invoices.</a:t>
            </a:r>
          </a:p>
        </p:txBody>
      </p:sp>
      <p:sp>
        <p:nvSpPr>
          <p:cNvPr id="24" name="Rounded Rectangle 23"/>
          <p:cNvSpPr/>
          <p:nvPr/>
        </p:nvSpPr>
        <p:spPr>
          <a:xfrm>
            <a:off x="3429000" y="3794760"/>
            <a:ext cx="256032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429000" y="3794760"/>
            <a:ext cx="2560320" cy="914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38728" y="3931920"/>
            <a:ext cx="2331720" cy="1965960"/>
          </a:xfrm>
          <a:prstGeom prst="rect">
            <a:avLst/>
          </a:prstGeom>
          <a:noFill/>
        </p:spPr>
        <p:txBody>
          <a:bodyPr wrap="square">
            <a:spAutoFit/>
          </a:bodyPr>
          <a:lstStyle/>
          <a:p>
            <a:pPr>
              <a:defRPr sz="1100" b="1">
                <a:solidFill>
                  <a:srgbClr val="7E22CE"/>
                </a:solidFill>
              </a:defRPr>
            </a:pPr>
            <a:r>
              <a:t>🚀 Booking Status Tracking</a:t>
            </a:r>
          </a:p>
          <a:p>
            <a:pPr>
              <a:spcBef>
                <a:spcPts val="600"/>
              </a:spcBef>
              <a:defRPr sz="950">
                <a:solidFill>
                  <a:srgbClr val="0F172A"/>
                </a:solidFill>
              </a:defRPr>
            </a:pPr>
            <a:r>
              <a:t>Users can track the real-time status of their trip: Pending, Confirmed, In-Transit, or Completed.</a:t>
            </a:r>
          </a:p>
        </p:txBody>
      </p:sp>
      <p:sp>
        <p:nvSpPr>
          <p:cNvPr id="27" name="Rounded Rectangle 26"/>
          <p:cNvSpPr/>
          <p:nvPr/>
        </p:nvSpPr>
        <p:spPr>
          <a:xfrm>
            <a:off x="6126480" y="3794760"/>
            <a:ext cx="256032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26480" y="3794760"/>
            <a:ext cx="2560320" cy="914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36208" y="3931920"/>
            <a:ext cx="2331720" cy="1965960"/>
          </a:xfrm>
          <a:prstGeom prst="rect">
            <a:avLst/>
          </a:prstGeom>
          <a:noFill/>
        </p:spPr>
        <p:txBody>
          <a:bodyPr wrap="square">
            <a:spAutoFit/>
          </a:bodyPr>
          <a:lstStyle/>
          <a:p>
            <a:pPr>
              <a:defRPr sz="1100" b="1">
                <a:solidFill>
                  <a:srgbClr val="1E3A8A"/>
                </a:solidFill>
              </a:defRPr>
            </a:pPr>
            <a:r>
              <a:t>🚀 Native Mobile Application</a:t>
            </a:r>
          </a:p>
          <a:p>
            <a:pPr>
              <a:spcBef>
                <a:spcPts val="600"/>
              </a:spcBef>
              <a:defRPr sz="950">
                <a:solidFill>
                  <a:srgbClr val="0F172A"/>
                </a:solidFill>
              </a:defRPr>
            </a:pPr>
            <a:r>
              <a:t>A cross-platform mobile application (Android/iOS) can be developed so customers can book directly from smartphones.</a:t>
            </a:r>
          </a:p>
        </p:txBody>
      </p:sp>
      <p:sp>
        <p:nvSpPr>
          <p:cNvPr id="30" name="Rounded Rectangle 29"/>
          <p:cNvSpPr/>
          <p:nvPr/>
        </p:nvSpPr>
        <p:spPr>
          <a:xfrm>
            <a:off x="8823960" y="3794760"/>
            <a:ext cx="256032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823960" y="3794760"/>
            <a:ext cx="2560320"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33688" y="3931920"/>
            <a:ext cx="2331720" cy="1965960"/>
          </a:xfrm>
          <a:prstGeom prst="rect">
            <a:avLst/>
          </a:prstGeom>
          <a:noFill/>
        </p:spPr>
        <p:txBody>
          <a:bodyPr wrap="square">
            <a:spAutoFit/>
          </a:bodyPr>
          <a:lstStyle/>
          <a:p>
            <a:pPr>
              <a:defRPr sz="1100" b="1">
                <a:solidFill>
                  <a:srgbClr val="2563EB"/>
                </a:solidFill>
              </a:defRPr>
            </a:pPr>
            <a:r>
              <a:t>🚀 AI Assistant / Chatbot</a:t>
            </a:r>
          </a:p>
          <a:p>
            <a:pPr>
              <a:spcBef>
                <a:spcPts val="600"/>
              </a:spcBef>
              <a:defRPr sz="950">
                <a:solidFill>
                  <a:srgbClr val="0F172A"/>
                </a:solidFill>
              </a:defRPr>
            </a:pPr>
            <a:r>
              <a:t>An AI assistant can be embedded to answer basic customer questions and guide users through the booking process.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102412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8229600" cy="274320"/>
          </a:xfrm>
          <a:prstGeom prst="rect">
            <a:avLst/>
          </a:prstGeom>
          <a:noFill/>
        </p:spPr>
        <p:txBody>
          <a:bodyPr wrap="square">
            <a:spAutoFit/>
          </a:bodyPr>
          <a:lstStyle/>
          <a:p>
            <a:pPr>
              <a:defRPr sz="1000" b="1">
                <a:solidFill>
                  <a:srgbClr val="D97706"/>
                </a:solidFill>
              </a:defRPr>
            </a:pPr>
            <a:r>
              <a:t>SECTION 4: METHODOLOGY</a:t>
            </a:r>
          </a:p>
        </p:txBody>
      </p:sp>
      <p:sp>
        <p:nvSpPr>
          <p:cNvPr id="6" name="TextBox 5"/>
          <p:cNvSpPr txBox="1"/>
          <p:nvPr/>
        </p:nvSpPr>
        <p:spPr>
          <a:xfrm>
            <a:off x="731520" y="438912"/>
            <a:ext cx="8686800" cy="594360"/>
          </a:xfrm>
          <a:prstGeom prst="rect">
            <a:avLst/>
          </a:prstGeom>
          <a:noFill/>
        </p:spPr>
        <p:txBody>
          <a:bodyPr wrap="square">
            <a:spAutoFit/>
          </a:bodyPr>
          <a:lstStyle/>
          <a:p>
            <a:pPr>
              <a:defRPr sz="2100" b="1">
                <a:solidFill>
                  <a:srgbClr val="FFFFFF"/>
                </a:solidFill>
              </a:defRPr>
            </a:pPr>
            <a:r>
              <a:t>Conclusion &amp; Project Summary</a:t>
            </a:r>
          </a:p>
        </p:txBody>
      </p:sp>
      <p:sp>
        <p:nvSpPr>
          <p:cNvPr id="7" name="TextBox 6"/>
          <p:cNvSpPr txBox="1"/>
          <p:nvPr/>
        </p:nvSpPr>
        <p:spPr>
          <a:xfrm>
            <a:off x="9144000" y="292608"/>
            <a:ext cx="2377440" cy="594360"/>
          </a:xfrm>
          <a:prstGeom prst="rect">
            <a:avLst/>
          </a:prstGeom>
          <a:noFill/>
        </p:spPr>
        <p:txBody>
          <a:bodyPr wrap="none">
            <a:spAutoFit/>
          </a:bodyPr>
          <a:lstStyle/>
          <a:p>
            <a:pPr algn="r">
              <a:defRPr sz="1050" b="1">
                <a:solidFill>
                  <a:srgbClr val="94A3B8"/>
                </a:solidFill>
              </a:defRPr>
            </a:pPr>
            <a:r>
              <a:t>SSPU BHILAI</a:t>
            </a:r>
            <a:br/>
            <a:r>
              <a:t>MCA DEPARTMENT</a:t>
            </a:r>
          </a:p>
        </p:txBody>
      </p:sp>
      <p:sp>
        <p:nvSpPr>
          <p:cNvPr id="8" name="TextBox 7"/>
          <p:cNvSpPr txBox="1"/>
          <p:nvPr/>
        </p:nvSpPr>
        <p:spPr>
          <a:xfrm>
            <a:off x="731520" y="6537960"/>
            <a:ext cx="10728655" cy="274320"/>
          </a:xfrm>
          <a:prstGeom prst="rect">
            <a:avLst/>
          </a:prstGeom>
          <a:noFill/>
        </p:spPr>
        <p:txBody>
          <a:bodyPr wrap="none">
            <a:spAutoFit/>
          </a:bodyPr>
          <a:lstStyle/>
          <a:p>
            <a:pPr>
              <a:defRPr sz="850">
                <a:solidFill>
                  <a:srgbClr val="64748B"/>
                </a:solidFill>
              </a:defRPr>
            </a:pPr>
            <a:r>
              <a:t>Ghidora Transport | Online Booking Transport Platform | Amit Kumar Sahu (2526002003) &amp; Raag Patel (2526002048) | Guide: Ms. Divya Jaiswal</a:t>
            </a:r>
          </a:p>
        </p:txBody>
      </p:sp>
      <p:sp>
        <p:nvSpPr>
          <p:cNvPr id="9" name="Rounded Rectangle 8"/>
          <p:cNvSpPr/>
          <p:nvPr/>
        </p:nvSpPr>
        <p:spPr>
          <a:xfrm>
            <a:off x="914400" y="1463040"/>
            <a:ext cx="10362895"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1691640"/>
            <a:ext cx="9601200" cy="4206240"/>
          </a:xfrm>
          <a:prstGeom prst="rect">
            <a:avLst/>
          </a:prstGeom>
          <a:noFill/>
        </p:spPr>
        <p:txBody>
          <a:bodyPr wrap="square">
            <a:spAutoFit/>
          </a:bodyPr>
          <a:lstStyle/>
          <a:p>
            <a:pPr>
              <a:defRPr sz="1900" b="1">
                <a:solidFill>
                  <a:srgbClr val="1E3A8A"/>
                </a:solidFill>
              </a:defRPr>
            </a:pPr>
            <a:r>
              <a:t>Project Summary &amp; Conclusion (From Synopsis)</a:t>
            </a:r>
          </a:p>
          <a:p>
            <a:pPr>
              <a:spcBef>
                <a:spcPts val="800"/>
              </a:spcBef>
              <a:defRPr sz="1300" b="1">
                <a:solidFill>
                  <a:srgbClr val="2563EB"/>
                </a:solidFill>
              </a:defRPr>
            </a:pPr>
            <a:r>
              <a:t>✔ Web-Based Platform Accomplishment:</a:t>
            </a:r>
          </a:p>
          <a:p>
            <a:pPr>
              <a:spcBef>
                <a:spcPts val="200"/>
              </a:spcBef>
              <a:defRPr sz="1100">
                <a:solidFill>
                  <a:srgbClr val="0F172A"/>
                </a:solidFill>
              </a:defRPr>
            </a:pPr>
            <a:r>
              <a:t>Ghidora Transport successfully establishes a web-based platform that makes local transport booking simple, convenient, and accessible for everyone.</a:t>
            </a:r>
          </a:p>
          <a:p>
            <a:pPr>
              <a:spcBef>
                <a:spcPts val="800"/>
              </a:spcBef>
              <a:defRPr sz="1300" b="1">
                <a:solidFill>
                  <a:srgbClr val="2563EB"/>
                </a:solidFill>
              </a:defRPr>
            </a:pPr>
            <a:r>
              <a:t>✔ Key User Capabilities:</a:t>
            </a:r>
          </a:p>
          <a:p>
            <a:pPr>
              <a:spcBef>
                <a:spcPts val="200"/>
              </a:spcBef>
              <a:defRPr sz="1100">
                <a:solidFill>
                  <a:srgbClr val="0F172A"/>
                </a:solidFill>
              </a:defRPr>
            </a:pPr>
            <a:r>
              <a:t>Users can select a transport vehicle according to requirements, enter pickup and drop locations, get automated fare calculations, and submit booking requests online.</a:t>
            </a:r>
          </a:p>
          <a:p>
            <a:pPr>
              <a:spcBef>
                <a:spcPts val="800"/>
              </a:spcBef>
              <a:defRPr sz="1300" b="1">
                <a:solidFill>
                  <a:srgbClr val="2563EB"/>
                </a:solidFill>
              </a:defRPr>
            </a:pPr>
            <a:r>
              <a:t>✔ Robust Full-Stack Implementation:</a:t>
            </a:r>
          </a:p>
          <a:p>
            <a:pPr>
              <a:spcBef>
                <a:spcPts val="200"/>
              </a:spcBef>
              <a:defRPr sz="1100">
                <a:solidFill>
                  <a:srgbClr val="0F172A"/>
                </a:solidFill>
              </a:defRPr>
            </a:pPr>
            <a:r>
              <a:t>The project is fully developed using Python and Django for the backend, HTML5, CSS3, and JavaScript for the frontend, and SQLite to securely store all booking information.</a:t>
            </a:r>
          </a:p>
          <a:p>
            <a:pPr>
              <a:spcBef>
                <a:spcPts val="800"/>
              </a:spcBef>
              <a:defRPr sz="1300" b="1">
                <a:solidFill>
                  <a:srgbClr val="2563EB"/>
                </a:solidFill>
              </a:defRPr>
            </a:pPr>
            <a:r>
              <a:t>✔ Reduces Manual Effort &amp; Future Ready:</a:t>
            </a:r>
          </a:p>
          <a:p>
            <a:pPr>
              <a:spcBef>
                <a:spcPts val="200"/>
              </a:spcBef>
              <a:defRPr sz="1100">
                <a:solidFill>
                  <a:srgbClr val="0F172A"/>
                </a:solidFill>
              </a:defRPr>
            </a:pPr>
            <a:r>
              <a:t>It effectively reduces manual booking dependency and provides an easy digital solution. Future improvements such as GPS tracking, online payment, WhatsApp alerts, customer login, and an AI assistant can be seamlessly integrated.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822960"/>
            <a:ext cx="10362895" cy="1828800"/>
          </a:xfrm>
          <a:prstGeom prst="rect">
            <a:avLst/>
          </a:prstGeom>
          <a:noFill/>
        </p:spPr>
        <p:txBody>
          <a:bodyPr wrap="square">
            <a:spAutoFit/>
          </a:bodyPr>
          <a:lstStyle/>
          <a:p>
            <a:pPr algn="ctr">
              <a:defRPr sz="4600" b="1">
                <a:solidFill>
                  <a:srgbClr val="FFFFFF"/>
                </a:solidFill>
              </a:defRPr>
            </a:pPr>
            <a:r>
              <a:t>THANK YOU!</a:t>
            </a:r>
          </a:p>
          <a:p>
            <a:pPr algn="ctr">
              <a:spcBef>
                <a:spcPts val="600"/>
              </a:spcBef>
              <a:defRPr sz="2200" b="1">
                <a:solidFill>
                  <a:srgbClr val="D97706"/>
                </a:solidFill>
              </a:defRPr>
            </a:pPr>
            <a:r>
              <a:t>Any Questions or Suggestions?</a:t>
            </a:r>
          </a:p>
        </p:txBody>
      </p:sp>
      <p:sp>
        <p:nvSpPr>
          <p:cNvPr id="5" name="Rounded Rectangle 4"/>
          <p:cNvSpPr/>
          <p:nvPr/>
        </p:nvSpPr>
        <p:spPr>
          <a:xfrm>
            <a:off x="1828800" y="2926080"/>
            <a:ext cx="8534095" cy="32004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03120" y="3108960"/>
            <a:ext cx="7985455" cy="2834640"/>
          </a:xfrm>
          <a:prstGeom prst="rect">
            <a:avLst/>
          </a:prstGeom>
          <a:noFill/>
        </p:spPr>
        <p:txBody>
          <a:bodyPr wrap="square">
            <a:spAutoFit/>
          </a:bodyPr>
          <a:lstStyle/>
          <a:p>
            <a:pPr algn="ctr">
              <a:defRPr sz="1100" b="1">
                <a:solidFill>
                  <a:srgbClr val="D97706"/>
                </a:solidFill>
              </a:defRPr>
            </a:pPr>
            <a:r>
              <a:t>PROJECT PRESENTED BY:</a:t>
            </a:r>
          </a:p>
          <a:p>
            <a:pPr algn="ctr">
              <a:spcBef>
                <a:spcPts val="400"/>
              </a:spcBef>
              <a:defRPr sz="1650" b="1">
                <a:solidFill>
                  <a:srgbClr val="FFFFFF"/>
                </a:solidFill>
              </a:defRPr>
            </a:pPr>
            <a:r>
              <a:t>AMIT KUMAR SAHU (Roll: 2526002003)  |  RAAG PATEL (Roll: 2526002048)</a:t>
            </a:r>
          </a:p>
          <a:p>
            <a:pPr algn="ctr">
              <a:spcBef>
                <a:spcPts val="800"/>
              </a:spcBef>
              <a:defRPr sz="1300" b="1">
                <a:solidFill>
                  <a:srgbClr val="BFDBFE"/>
                </a:solidFill>
              </a:defRPr>
            </a:pPr>
            <a:r>
              <a:t>Under the Guidance of: MS. DIVYA JAISWAL</a:t>
            </a:r>
          </a:p>
          <a:p>
            <a:pPr algn="ctr">
              <a:spcBef>
                <a:spcPts val="400"/>
              </a:spcBef>
              <a:defRPr sz="1200">
                <a:solidFill>
                  <a:srgbClr val="CBD5E1"/>
                </a:solidFill>
              </a:defRPr>
            </a:pPr>
            <a:r>
              <a:t>Department of Computer Applications</a:t>
            </a:r>
            <a:br/>
            <a:r>
              <a:t>Shri Shankaracharya Professional University (SSPU), Bhilai (C.G.), India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